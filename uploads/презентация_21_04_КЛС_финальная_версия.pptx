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7" r:id="rId5"/>
    <p:sldId id="259" r:id="rId6"/>
    <p:sldId id="261" r:id="rId7"/>
    <p:sldId id="278" r:id="rId8"/>
    <p:sldId id="279" r:id="rId9"/>
    <p:sldId id="262" r:id="rId10"/>
    <p:sldId id="265" r:id="rId11"/>
    <p:sldId id="264" r:id="rId12"/>
    <p:sldId id="267" r:id="rId13"/>
    <p:sldId id="269" r:id="rId14"/>
    <p:sldId id="266" r:id="rId15"/>
    <p:sldId id="270" r:id="rId16"/>
    <p:sldId id="271" r:id="rId17"/>
    <p:sldId id="272" r:id="rId18"/>
    <p:sldId id="273" r:id="rId19"/>
    <p:sldId id="275" r:id="rId20"/>
    <p:sldId id="276" r:id="rId21"/>
  </p:sldIdLst>
  <p:sldSz cx="12192000" cy="6858000"/>
  <p:notesSz cx="6858000" cy="12192000"/>
  <p:embeddedFontLst>
    <p:embeddedFont>
      <p:font typeface="Inter" panose="020B0604020202020204" charset="0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855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3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18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1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24" Type="http://schemas.openxmlformats.org/officeDocument/2006/relationships/image" Target="../media/image94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33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0.png"/><Relationship Id="rId5" Type="http://schemas.openxmlformats.org/officeDocument/2006/relationships/image" Target="../media/image95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3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8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58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43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jp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10" Type="http://schemas.openxmlformats.org/officeDocument/2006/relationships/image" Target="../media/image149.png"/><Relationship Id="rId4" Type="http://schemas.openxmlformats.org/officeDocument/2006/relationships/image" Target="../media/image7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26" Type="http://schemas.openxmlformats.org/officeDocument/2006/relationships/image" Target="../media/image176.png"/><Relationship Id="rId3" Type="http://schemas.openxmlformats.org/officeDocument/2006/relationships/image" Target="../media/image18.png"/><Relationship Id="rId21" Type="http://schemas.openxmlformats.org/officeDocument/2006/relationships/image" Target="../media/image171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5" Type="http://schemas.openxmlformats.org/officeDocument/2006/relationships/image" Target="../media/image17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6.png"/><Relationship Id="rId20" Type="http://schemas.openxmlformats.org/officeDocument/2006/relationships/image" Target="../media/image170.png"/><Relationship Id="rId29" Type="http://schemas.openxmlformats.org/officeDocument/2006/relationships/image" Target="../media/image1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24" Type="http://schemas.openxmlformats.org/officeDocument/2006/relationships/image" Target="../media/image174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23" Type="http://schemas.openxmlformats.org/officeDocument/2006/relationships/image" Target="../media/image173.png"/><Relationship Id="rId28" Type="http://schemas.openxmlformats.org/officeDocument/2006/relationships/image" Target="../media/image178.png"/><Relationship Id="rId10" Type="http://schemas.openxmlformats.org/officeDocument/2006/relationships/image" Target="../media/image160.png"/><Relationship Id="rId19" Type="http://schemas.openxmlformats.org/officeDocument/2006/relationships/image" Target="../media/image169.png"/><Relationship Id="rId31" Type="http://schemas.openxmlformats.org/officeDocument/2006/relationships/image" Target="../media/image181.png"/><Relationship Id="rId4" Type="http://schemas.openxmlformats.org/officeDocument/2006/relationships/image" Target="../media/image58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Relationship Id="rId22" Type="http://schemas.openxmlformats.org/officeDocument/2006/relationships/image" Target="../media/image172.png"/><Relationship Id="rId27" Type="http://schemas.openxmlformats.org/officeDocument/2006/relationships/image" Target="../media/image177.png"/><Relationship Id="rId30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18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58.png"/><Relationship Id="rId9" Type="http://schemas.openxmlformats.org/officeDocument/2006/relationships/image" Target="../media/image18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9.png"/><Relationship Id="rId3" Type="http://schemas.openxmlformats.org/officeDocument/2006/relationships/image" Target="../media/image1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5" Type="http://schemas.openxmlformats.org/officeDocument/2006/relationships/image" Target="../media/image201.png"/><Relationship Id="rId10" Type="http://schemas.openxmlformats.org/officeDocument/2006/relationships/image" Target="../media/image196.png"/><Relationship Id="rId4" Type="http://schemas.openxmlformats.org/officeDocument/2006/relationships/image" Target="../media/image33.png"/><Relationship Id="rId9" Type="http://schemas.openxmlformats.org/officeDocument/2006/relationships/image" Target="../media/image195.png"/><Relationship Id="rId1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26" Type="http://schemas.openxmlformats.org/officeDocument/2006/relationships/image" Target="../media/image225.png"/><Relationship Id="rId3" Type="http://schemas.openxmlformats.org/officeDocument/2006/relationships/image" Target="../media/image202.png"/><Relationship Id="rId21" Type="http://schemas.openxmlformats.org/officeDocument/2006/relationships/image" Target="../media/image220.png"/><Relationship Id="rId34" Type="http://schemas.openxmlformats.org/officeDocument/2006/relationships/image" Target="../media/image233.png"/><Relationship Id="rId7" Type="http://schemas.openxmlformats.org/officeDocument/2006/relationships/image" Target="../media/image206.png"/><Relationship Id="rId12" Type="http://schemas.openxmlformats.org/officeDocument/2006/relationships/image" Target="../media/image211.png"/><Relationship Id="rId17" Type="http://schemas.openxmlformats.org/officeDocument/2006/relationships/image" Target="../media/image216.png"/><Relationship Id="rId25" Type="http://schemas.openxmlformats.org/officeDocument/2006/relationships/image" Target="../media/image224.png"/><Relationship Id="rId33" Type="http://schemas.openxmlformats.org/officeDocument/2006/relationships/image" Target="../media/image23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15.png"/><Relationship Id="rId20" Type="http://schemas.openxmlformats.org/officeDocument/2006/relationships/image" Target="../media/image219.png"/><Relationship Id="rId29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11" Type="http://schemas.openxmlformats.org/officeDocument/2006/relationships/image" Target="../media/image210.png"/><Relationship Id="rId24" Type="http://schemas.openxmlformats.org/officeDocument/2006/relationships/image" Target="../media/image223.png"/><Relationship Id="rId32" Type="http://schemas.openxmlformats.org/officeDocument/2006/relationships/image" Target="../media/image231.png"/><Relationship Id="rId5" Type="http://schemas.openxmlformats.org/officeDocument/2006/relationships/image" Target="../media/image204.png"/><Relationship Id="rId15" Type="http://schemas.openxmlformats.org/officeDocument/2006/relationships/image" Target="../media/image214.png"/><Relationship Id="rId23" Type="http://schemas.openxmlformats.org/officeDocument/2006/relationships/image" Target="../media/image222.png"/><Relationship Id="rId28" Type="http://schemas.openxmlformats.org/officeDocument/2006/relationships/image" Target="../media/image227.png"/><Relationship Id="rId10" Type="http://schemas.openxmlformats.org/officeDocument/2006/relationships/image" Target="../media/image209.png"/><Relationship Id="rId19" Type="http://schemas.openxmlformats.org/officeDocument/2006/relationships/image" Target="../media/image218.png"/><Relationship Id="rId31" Type="http://schemas.openxmlformats.org/officeDocument/2006/relationships/image" Target="../media/image230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Relationship Id="rId14" Type="http://schemas.openxmlformats.org/officeDocument/2006/relationships/image" Target="../media/image213.png"/><Relationship Id="rId22" Type="http://schemas.openxmlformats.org/officeDocument/2006/relationships/image" Target="../media/image221.png"/><Relationship Id="rId27" Type="http://schemas.openxmlformats.org/officeDocument/2006/relationships/image" Target="../media/image226.png"/><Relationship Id="rId30" Type="http://schemas.openxmlformats.org/officeDocument/2006/relationships/image" Target="../media/image229.png"/><Relationship Id="rId8" Type="http://schemas.openxmlformats.org/officeDocument/2006/relationships/image" Target="../media/image20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18" Type="http://schemas.openxmlformats.org/officeDocument/2006/relationships/image" Target="../media/image248.png"/><Relationship Id="rId3" Type="http://schemas.openxmlformats.org/officeDocument/2006/relationships/image" Target="../media/image202.png"/><Relationship Id="rId21" Type="http://schemas.openxmlformats.org/officeDocument/2006/relationships/image" Target="../media/image251.png"/><Relationship Id="rId7" Type="http://schemas.openxmlformats.org/officeDocument/2006/relationships/image" Target="../media/image237.png"/><Relationship Id="rId12" Type="http://schemas.openxmlformats.org/officeDocument/2006/relationships/image" Target="../media/image242.png"/><Relationship Id="rId17" Type="http://schemas.openxmlformats.org/officeDocument/2006/relationships/image" Target="../media/image24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46.png"/><Relationship Id="rId20" Type="http://schemas.openxmlformats.org/officeDocument/2006/relationships/image" Target="../media/image2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6.png"/><Relationship Id="rId11" Type="http://schemas.openxmlformats.org/officeDocument/2006/relationships/image" Target="../media/image241.png"/><Relationship Id="rId24" Type="http://schemas.openxmlformats.org/officeDocument/2006/relationships/image" Target="../media/image254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23" Type="http://schemas.openxmlformats.org/officeDocument/2006/relationships/image" Target="../media/image253.png"/><Relationship Id="rId10" Type="http://schemas.openxmlformats.org/officeDocument/2006/relationships/image" Target="../media/image240.png"/><Relationship Id="rId19" Type="http://schemas.openxmlformats.org/officeDocument/2006/relationships/image" Target="../media/image249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Relationship Id="rId22" Type="http://schemas.openxmlformats.org/officeDocument/2006/relationships/image" Target="../media/image2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13" Type="http://schemas.openxmlformats.org/officeDocument/2006/relationships/image" Target="../media/image264.png"/><Relationship Id="rId18" Type="http://schemas.openxmlformats.org/officeDocument/2006/relationships/image" Target="../media/image269.png"/><Relationship Id="rId3" Type="http://schemas.openxmlformats.org/officeDocument/2006/relationships/image" Target="../media/image202.png"/><Relationship Id="rId7" Type="http://schemas.openxmlformats.org/officeDocument/2006/relationships/image" Target="../media/image258.png"/><Relationship Id="rId12" Type="http://schemas.openxmlformats.org/officeDocument/2006/relationships/image" Target="../media/image263.png"/><Relationship Id="rId17" Type="http://schemas.openxmlformats.org/officeDocument/2006/relationships/image" Target="../media/image26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7.png"/><Relationship Id="rId11" Type="http://schemas.openxmlformats.org/officeDocument/2006/relationships/image" Target="../media/image262.png"/><Relationship Id="rId5" Type="http://schemas.openxmlformats.org/officeDocument/2006/relationships/image" Target="../media/image256.png"/><Relationship Id="rId15" Type="http://schemas.openxmlformats.org/officeDocument/2006/relationships/image" Target="../media/image266.png"/><Relationship Id="rId10" Type="http://schemas.openxmlformats.org/officeDocument/2006/relationships/image" Target="../media/image261.png"/><Relationship Id="rId19" Type="http://schemas.openxmlformats.org/officeDocument/2006/relationships/image" Target="../media/image270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Relationship Id="rId14" Type="http://schemas.openxmlformats.org/officeDocument/2006/relationships/image" Target="../media/image2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3" Type="http://schemas.openxmlformats.org/officeDocument/2006/relationships/image" Target="../media/image18.png"/><Relationship Id="rId7" Type="http://schemas.openxmlformats.org/officeDocument/2006/relationships/image" Target="../media/image27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3.png"/><Relationship Id="rId5" Type="http://schemas.openxmlformats.org/officeDocument/2006/relationships/image" Target="../media/image272.png"/><Relationship Id="rId4" Type="http://schemas.openxmlformats.org/officeDocument/2006/relationships/image" Target="../media/image271.png"/><Relationship Id="rId9" Type="http://schemas.openxmlformats.org/officeDocument/2006/relationships/image" Target="../media/image2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85.png"/><Relationship Id="rId18" Type="http://schemas.openxmlformats.org/officeDocument/2006/relationships/image" Target="../media/image290.png"/><Relationship Id="rId3" Type="http://schemas.openxmlformats.org/officeDocument/2006/relationships/image" Target="../media/image18.png"/><Relationship Id="rId7" Type="http://schemas.openxmlformats.org/officeDocument/2006/relationships/image" Target="../media/image279.png"/><Relationship Id="rId12" Type="http://schemas.openxmlformats.org/officeDocument/2006/relationships/image" Target="../media/image284.png"/><Relationship Id="rId17" Type="http://schemas.openxmlformats.org/officeDocument/2006/relationships/image" Target="../media/image28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8.png"/><Relationship Id="rId11" Type="http://schemas.openxmlformats.org/officeDocument/2006/relationships/image" Target="../media/image283.png"/><Relationship Id="rId5" Type="http://schemas.openxmlformats.org/officeDocument/2006/relationships/image" Target="../media/image277.png"/><Relationship Id="rId15" Type="http://schemas.openxmlformats.org/officeDocument/2006/relationships/image" Target="../media/image287.png"/><Relationship Id="rId10" Type="http://schemas.openxmlformats.org/officeDocument/2006/relationships/image" Target="../media/image282.png"/><Relationship Id="rId4" Type="http://schemas.openxmlformats.org/officeDocument/2006/relationships/image" Target="../media/image58.png"/><Relationship Id="rId9" Type="http://schemas.openxmlformats.org/officeDocument/2006/relationships/image" Target="../media/image281.png"/><Relationship Id="rId14" Type="http://schemas.openxmlformats.org/officeDocument/2006/relationships/image" Target="../media/image28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18" Type="http://schemas.openxmlformats.org/officeDocument/2006/relationships/image" Target="../media/image305.png"/><Relationship Id="rId3" Type="http://schemas.openxmlformats.org/officeDocument/2006/relationships/image" Target="../media/image202.png"/><Relationship Id="rId21" Type="http://schemas.openxmlformats.org/officeDocument/2006/relationships/image" Target="../media/image308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17" Type="http://schemas.openxmlformats.org/officeDocument/2006/relationships/image" Target="../media/image30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303.png"/><Relationship Id="rId20" Type="http://schemas.openxmlformats.org/officeDocument/2006/relationships/image" Target="../media/image3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92.png"/><Relationship Id="rId15" Type="http://schemas.openxmlformats.org/officeDocument/2006/relationships/image" Target="../media/image302.png"/><Relationship Id="rId10" Type="http://schemas.openxmlformats.org/officeDocument/2006/relationships/image" Target="../media/image297.png"/><Relationship Id="rId19" Type="http://schemas.openxmlformats.org/officeDocument/2006/relationships/image" Target="../media/image306.png"/><Relationship Id="rId4" Type="http://schemas.openxmlformats.org/officeDocument/2006/relationships/image" Target="../media/image291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220" y="457200"/>
            <a:ext cx="9525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43063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7701" y="5114925"/>
            <a:ext cx="2114550" cy="8286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9600" y="457200"/>
            <a:ext cx="6720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НАЦИОНАЛЬНЫЙ ИССЛЕДОВАТЕЛЬСКИЙ УНИВЕРСИТЕТ</a:t>
            </a:r>
            <a:endParaRPr lang="en-US" sz="1050" dirty="0"/>
          </a:p>
        </p:txBody>
      </p:sp>
      <p:sp>
        <p:nvSpPr>
          <p:cNvPr id="9" name="Text 1"/>
          <p:cNvSpPr/>
          <p:nvPr/>
        </p:nvSpPr>
        <p:spPr>
          <a:xfrm>
            <a:off x="609600" y="6477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ВЫСШАЯ ШКОЛА ЭКОНОМИКИ</a:t>
            </a:r>
            <a:endParaRPr lang="en-US" sz="1500" dirty="0"/>
          </a:p>
        </p:txBody>
      </p:sp>
      <p:sp>
        <p:nvSpPr>
          <p:cNvPr id="10" name="Text 2"/>
          <p:cNvSpPr/>
          <p:nvPr/>
        </p:nvSpPr>
        <p:spPr>
          <a:xfrm>
            <a:off x="609600" y="952500"/>
            <a:ext cx="44749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Институт образования</a:t>
            </a:r>
            <a:endParaRPr lang="en-US" sz="1050" dirty="0"/>
          </a:p>
        </p:txBody>
      </p:sp>
      <p:sp>
        <p:nvSpPr>
          <p:cNvPr id="11" name="Text 3"/>
          <p:cNvSpPr/>
          <p:nvPr/>
        </p:nvSpPr>
        <p:spPr>
          <a:xfrm>
            <a:off x="8915400" y="457200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ПСКОВСКИЙ ГОСУДАРСТВЕННЫЙ</a:t>
            </a:r>
            <a:endParaRPr lang="en-US" sz="1050" dirty="0"/>
          </a:p>
        </p:txBody>
      </p:sp>
      <p:sp>
        <p:nvSpPr>
          <p:cNvPr id="12" name="Text 4"/>
          <p:cNvSpPr/>
          <p:nvPr/>
        </p:nvSpPr>
        <p:spPr>
          <a:xfrm>
            <a:off x="8915400" y="647700"/>
            <a:ext cx="2667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УНИВЕРСИТЕТ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8915400" y="952500"/>
            <a:ext cx="2667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Кафедра математики и теории игр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609600" y="1985963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kern="0" spc="27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609600" y="2405063"/>
            <a:ext cx="9753600" cy="1714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 по решению нестандартных задач как средство развития математического мышления младших школьников</a:t>
            </a:r>
            <a:endParaRPr lang="en-US" sz="3600" dirty="0"/>
          </a:p>
        </p:txBody>
      </p:sp>
      <p:sp>
        <p:nvSpPr>
          <p:cNvPr id="16" name="Text 8"/>
          <p:cNvSpPr/>
          <p:nvPr/>
        </p:nvSpPr>
        <p:spPr>
          <a:xfrm>
            <a:off x="609600" y="4348163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виде учебно-методической разработки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609600" y="5562600"/>
            <a:ext cx="34543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АВТОРЫ: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609600" y="5791200"/>
            <a:ext cx="5554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Кинтас Александра Антоновна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09600" y="6057900"/>
            <a:ext cx="5349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Корешкова Любовь Сергеевна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368701" y="5562600"/>
            <a:ext cx="43941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-36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НАУЧНЫЙ РУКОВОДИТЕЛЬ: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4368701" y="5791200"/>
            <a:ext cx="43941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Соловьева Ирина Олеговна</a:t>
            </a:r>
            <a:r>
              <a:rPr lang="en-US" sz="13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к.п.н., доцент кафедры математики и теории игр ПсковГУ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9620101" y="5267325"/>
            <a:ext cx="24688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ИССЛЕДОВАНИЯ: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9620101" y="5457825"/>
            <a:ext cx="1809750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ЧОУ «Школа Квадривиум»
Санкт-Петербург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9067651" y="6096000"/>
            <a:ext cx="2514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43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28" y="458080"/>
            <a:ext cx="65005" cy="52003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028" y="1436199"/>
            <a:ext cx="11411887" cy="14638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47" y="1763507"/>
            <a:ext cx="166448" cy="17216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028" y="3160094"/>
            <a:ext cx="3673910" cy="186152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043" y="3357266"/>
            <a:ext cx="227517" cy="23729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8953" y="3160094"/>
            <a:ext cx="3673910" cy="186152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967" y="3357266"/>
            <a:ext cx="227517" cy="23729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878" y="3160094"/>
            <a:ext cx="3674038" cy="186152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2892" y="3360440"/>
            <a:ext cx="260019" cy="2310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423" y="5411645"/>
            <a:ext cx="9905098" cy="487535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50047" y="390028"/>
            <a:ext cx="11541953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 ИССЛЕДОВАНИЯ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650047" y="818653"/>
            <a:ext cx="11541953" cy="227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1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возникла необходимость в разработке курса?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1011509" y="1696217"/>
            <a:ext cx="10530387" cy="2600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7"/>
              </a:lnSpc>
              <a:buNone/>
            </a:pPr>
            <a:r>
              <a:rPr lang="en-US" sz="18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Главное противоречие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1011509" y="2021241"/>
            <a:ext cx="10530387" cy="6188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7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Декларируемые цели </a:t>
            </a: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ФГОС НОО (2021)</a:t>
            </a: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 формировании УУД и развитии мышления вступают в конфликт с </a:t>
            </a: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массовой практикой</a:t>
            </a: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ориентированной на механическую отработку алгоритмов.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585043" y="3724568"/>
            <a:ext cx="4341114" cy="227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1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Когнитивный разрыв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585043" y="4049592"/>
            <a:ext cx="3283882" cy="5850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36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Олимпиадные задачи требуют высокой начальной подготовки, создавая барьер для большинства учеников.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4453967" y="3724568"/>
            <a:ext cx="3617595" cy="227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1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Фрагментарность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4453967" y="4049592"/>
            <a:ext cx="3283882" cy="5850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36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Существующие методики либо разрознены, либо не адаптированы к возрастным возможностям детей 7–11 лет.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8322892" y="3721521"/>
            <a:ext cx="3869108" cy="227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1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системы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8322892" y="4046545"/>
            <a:ext cx="3284009" cy="7800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36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массовой школе нет курса, ориентированного на планомерное развитие мышления через нестандартные задачи.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1403442" y="5541654"/>
            <a:ext cx="9385060" cy="2275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91"/>
              </a:lnSpc>
              <a:buNone/>
            </a:pPr>
            <a:r>
              <a:rPr lang="en-US" sz="1350" b="1" i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Проблема:</a:t>
            </a:r>
            <a:r>
              <a:rPr lang="en-US" sz="13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Традиционная практика не обеспечивает систематического развития математического мышления.</a:t>
            </a:r>
            <a:endParaRPr lang="en-US" sz="1350" dirty="0"/>
          </a:p>
        </p:txBody>
      </p:sp>
      <p:sp>
        <p:nvSpPr>
          <p:cNvPr id="24" name="Text 11"/>
          <p:cNvSpPr/>
          <p:nvPr/>
        </p:nvSpPr>
        <p:spPr>
          <a:xfrm>
            <a:off x="390028" y="6337962"/>
            <a:ext cx="5627383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b="1" kern="0" spc="84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МАСТЕРСКАЯ МАТЕМАТИЧЕСКОГО МЫШЛЕНИЯ</a:t>
            </a:r>
            <a:endParaRPr lang="en-US" sz="900" dirty="0"/>
          </a:p>
        </p:txBody>
      </p:sp>
      <p:sp>
        <p:nvSpPr>
          <p:cNvPr id="25" name="Text 12"/>
          <p:cNvSpPr/>
          <p:nvPr/>
        </p:nvSpPr>
        <p:spPr>
          <a:xfrm>
            <a:off x="10413074" y="6337962"/>
            <a:ext cx="1778926" cy="1300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4"/>
              </a:lnSpc>
              <a:buNone/>
            </a:pPr>
            <a:r>
              <a:rPr lang="en-US" sz="900" b="1" kern="0" spc="84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57" y="331304"/>
            <a:ext cx="66261" cy="39756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57" y="1116707"/>
            <a:ext cx="5400261" cy="160449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739" y="1325217"/>
            <a:ext cx="331304" cy="3313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848" y="1411408"/>
            <a:ext cx="149087" cy="1589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4695" y="1743230"/>
            <a:ext cx="331305" cy="37090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0956" y="1819327"/>
            <a:ext cx="198783" cy="2285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4783" y="1126435"/>
            <a:ext cx="5400260" cy="160449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3565" y="1325217"/>
            <a:ext cx="331304" cy="33130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956" y="1409338"/>
            <a:ext cx="132522" cy="16306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957" y="3590640"/>
            <a:ext cx="11198086" cy="19752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0071" y="3590640"/>
            <a:ext cx="4041929" cy="197527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855684"/>
            <a:ext cx="2128501" cy="19878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5787" y="5834321"/>
            <a:ext cx="149087" cy="15892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7437" y="5832250"/>
            <a:ext cx="132522" cy="163064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62000" y="364435"/>
            <a:ext cx="10883646" cy="331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09"/>
              </a:lnSpc>
              <a:buNone/>
            </a:pPr>
            <a:r>
              <a:rPr lang="en-US" sz="2700" b="1" kern="0" spc="-6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ПРОТИВОРЕЧИЕ И ПРОБЛЕМА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159565" y="1374913"/>
            <a:ext cx="3943350" cy="231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6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Потенциал задач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695739" y="1789043"/>
            <a:ext cx="5002696" cy="743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Нестандартные задачи эффективно развивают </a:t>
            </a:r>
            <a:r>
              <a:rPr lang="en-US" sz="12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анализ, синтез и гибкость стратегий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 детей 7–11 лет. Формируют навыки моделирования и аргументации.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6957391" y="1374913"/>
            <a:ext cx="4469130" cy="231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26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Разрыв и практика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6493565" y="1789043"/>
            <a:ext cx="5002696" cy="7431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Школьные учебники сфокусированы на </a:t>
            </a:r>
            <a:r>
              <a:rPr lang="en-US" sz="12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алгоритмах</a:t>
            </a: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Существующие программы фрагментарны и методически не адаптированы к 1–4 классам.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861391" y="3855684"/>
            <a:ext cx="2956662" cy="1987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3"/>
              </a:lnSpc>
              <a:buNone/>
            </a:pPr>
            <a:r>
              <a:rPr lang="en-US" sz="900" b="1" kern="0" spc="8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ИССЛЕДОВАНИЯ</a:t>
            </a:r>
            <a:endParaRPr lang="en-US" sz="900" dirty="0"/>
          </a:p>
        </p:txBody>
      </p:sp>
      <p:sp>
        <p:nvSpPr>
          <p:cNvPr id="23" name="Text 6"/>
          <p:cNvSpPr/>
          <p:nvPr/>
        </p:nvSpPr>
        <p:spPr>
          <a:xfrm>
            <a:off x="762000" y="4186988"/>
            <a:ext cx="10668000" cy="11138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25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«Практика школы не обеспечивает развитие мышления; имеющиеся программы либо фрагментарны, либо методически не адаптированы к когнитивным возможностям детей 7–11 лет».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2484265" y="5830956"/>
            <a:ext cx="5336667" cy="1656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04"/>
              </a:lnSpc>
              <a:buNone/>
            </a:pPr>
            <a:r>
              <a:rPr lang="en-US" sz="1050" b="1" kern="0" spc="4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СИСТЕМНОЙ МЕТОДИКИ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6769350" y="5830956"/>
            <a:ext cx="5422650" cy="1656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04"/>
              </a:lnSpc>
              <a:buNone/>
            </a:pPr>
            <a:r>
              <a:rPr lang="en-US" sz="1050" b="1" kern="0" spc="4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НЕОБХОДИМОСТЬ СИСТЕМНОГО РЕШЕНИЯ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496957" y="6394174"/>
            <a:ext cx="8359902" cy="132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диссертация: Кинтас А.А., Корешкова Л.С.</a:t>
            </a:r>
            <a:endParaRPr lang="en-US" sz="900" dirty="0"/>
          </a:p>
        </p:txBody>
      </p:sp>
      <p:sp>
        <p:nvSpPr>
          <p:cNvPr id="27" name="Text 10"/>
          <p:cNvSpPr/>
          <p:nvPr/>
        </p:nvSpPr>
        <p:spPr>
          <a:xfrm>
            <a:off x="10129631" y="6394174"/>
            <a:ext cx="1104138" cy="132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</a:t>
            </a:r>
            <a:endParaRPr lang="en-US" sz="900" dirty="0"/>
          </a:p>
        </p:txBody>
      </p:sp>
      <p:sp>
        <p:nvSpPr>
          <p:cNvPr id="28" name="Text 11"/>
          <p:cNvSpPr/>
          <p:nvPr/>
        </p:nvSpPr>
        <p:spPr>
          <a:xfrm>
            <a:off x="10800521" y="6394174"/>
            <a:ext cx="1104138" cy="132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ПсковГУ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11413435" y="6394174"/>
            <a:ext cx="778565" cy="1325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3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0063"/>
            <a:ext cx="762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33525"/>
            <a:ext cx="3555950" cy="1924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811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1533525"/>
            <a:ext cx="3555950" cy="19240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17811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8701" y="1533525"/>
            <a:ext cx="3556099" cy="19240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7301" y="1781175"/>
            <a:ext cx="257175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38575"/>
            <a:ext cx="11277600" cy="16478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8050" y="3648075"/>
            <a:ext cx="857250" cy="1143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143375"/>
            <a:ext cx="44068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4337000"/>
            <a:ext cx="135880" cy="177105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762000" y="457200"/>
            <a:ext cx="987552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МЕТОДОЛОГИЧЕСКИЙ АППАРАТ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762000" y="885825"/>
            <a:ext cx="708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Фундамент научного исследования</a:t>
            </a:r>
            <a:endParaRPr lang="en-US" sz="1500" dirty="0"/>
          </a:p>
        </p:txBody>
      </p:sp>
      <p:sp>
        <p:nvSpPr>
          <p:cNvPr id="16" name="Text 2"/>
          <p:cNvSpPr/>
          <p:nvPr/>
        </p:nvSpPr>
        <p:spPr>
          <a:xfrm>
            <a:off x="1028700" y="1762125"/>
            <a:ext cx="91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-30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685800" y="2181225"/>
            <a:ext cx="309875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курс по решению нестандартных математических задач, направленный на развитие мышления с учётом возрастных и когнитивных особенностей.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4889450" y="1762125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-30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4546550" y="2181225"/>
            <a:ext cx="309875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 развития математического мышления младших школьников (1–4 классы).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8778776" y="1762125"/>
            <a:ext cx="160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-30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8407301" y="2181225"/>
            <a:ext cx="3098899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Нестандартные задачи и методика их использования в обучении как средство развития когнитивных функций.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1431280" y="4143375"/>
            <a:ext cx="99987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ГИПОТЕЗА ИССЛЕДОВАНИЯ</a:t>
            </a:r>
            <a:endParaRPr lang="en-US" sz="1800" dirty="0"/>
          </a:p>
        </p:txBody>
      </p:sp>
      <p:sp>
        <p:nvSpPr>
          <p:cNvPr id="23" name="Text 9"/>
          <p:cNvSpPr/>
          <p:nvPr/>
        </p:nvSpPr>
        <p:spPr>
          <a:xfrm>
            <a:off x="1431280" y="4562475"/>
            <a:ext cx="9998720" cy="619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Системный курс, построенный на </a:t>
            </a:r>
            <a:r>
              <a:rPr lang="en-US" sz="1500" b="1" u="sng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нарративно-проблемном континууме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500" dirty="0" err="1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обеспечит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</a:t>
            </a:r>
            <a:r>
              <a:rPr lang="ru-RU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математического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мышления младших школьников.</a:t>
            </a:r>
            <a:endParaRPr lang="en-US" sz="1500" dirty="0"/>
          </a:p>
        </p:txBody>
      </p:sp>
      <p:sp>
        <p:nvSpPr>
          <p:cNvPr id="24" name="Text 10"/>
          <p:cNvSpPr/>
          <p:nvPr/>
        </p:nvSpPr>
        <p:spPr>
          <a:xfrm>
            <a:off x="457200" y="6248400"/>
            <a:ext cx="46177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 | 2026</a:t>
            </a:r>
            <a:endParaRPr lang="en-US" sz="900" dirty="0"/>
          </a:p>
        </p:txBody>
      </p:sp>
      <p:sp>
        <p:nvSpPr>
          <p:cNvPr id="25" name="Text 11"/>
          <p:cNvSpPr/>
          <p:nvPr/>
        </p:nvSpPr>
        <p:spPr>
          <a:xfrm>
            <a:off x="9559230" y="6248400"/>
            <a:ext cx="26327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КИНТАС А.А., КОРЕШКОВА Л.С.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0063"/>
            <a:ext cx="762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71625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66925"/>
            <a:ext cx="653802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67025"/>
            <a:ext cx="653802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67125"/>
            <a:ext cx="653802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467225"/>
            <a:ext cx="6538020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076825"/>
            <a:ext cx="653802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876925"/>
            <a:ext cx="653802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6220" y="1533525"/>
            <a:ext cx="4358580" cy="2895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1020" y="1838325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1020" y="2447925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66745" y="2543175"/>
            <a:ext cx="13335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1020" y="2905125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6745" y="3000375"/>
            <a:ext cx="13335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1020" y="3362325"/>
            <a:ext cx="3048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6270" y="3457575"/>
            <a:ext cx="11430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81020" y="3819525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66745" y="3914775"/>
            <a:ext cx="133350" cy="114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6220" y="4657725"/>
            <a:ext cx="4358580" cy="854869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6096000"/>
            <a:ext cx="11277600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762000" y="457200"/>
            <a:ext cx="114300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И МЕТОДЫ ИССЛЕДОВАНИЯ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762000" y="885825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теоретического анализа к практической апробации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800100" y="1533525"/>
            <a:ext cx="5212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исследования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571500" y="218122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942975" y="2181225"/>
            <a:ext cx="59379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Теоретический анализ понятий «математическое мышление» и «нестандартная задача»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571500" y="298132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981075" y="2981325"/>
            <a:ext cx="5899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Сравнительный </a:t>
            </a:r>
            <a:r>
              <a:rPr lang="en-US" sz="1200" dirty="0" err="1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отечественных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зарубежных методик (включая TIMSS)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571500" y="378142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981075" y="3781425"/>
            <a:ext cx="5899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Формирование банка </a:t>
            </a:r>
            <a:r>
              <a:rPr lang="en-US" sz="1200" dirty="0" err="1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адаптированных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олимпиадных задач (2021–2026)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571500" y="458152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10"/>
          <p:cNvSpPr/>
          <p:nvPr/>
        </p:nvSpPr>
        <p:spPr>
          <a:xfrm>
            <a:off x="990600" y="4581525"/>
            <a:ext cx="1097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Методическое обоснование нарративного и проблемного подходов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571500" y="519112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981075" y="5191125"/>
            <a:ext cx="589984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курса «Мастерская математического мышления» по модели ADDIE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571500" y="5991225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981075" y="5991225"/>
            <a:ext cx="11210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Апробация курса (70 учеников, 1–4 классы) и оценка эффективности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176320" y="1876425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Методы</a:t>
            </a:r>
            <a:endParaRPr lang="en-US" sz="1800" dirty="0"/>
          </a:p>
        </p:txBody>
      </p:sp>
      <p:sp>
        <p:nvSpPr>
          <p:cNvPr id="39" name="Text 16"/>
          <p:cNvSpPr/>
          <p:nvPr/>
        </p:nvSpPr>
        <p:spPr>
          <a:xfrm>
            <a:off x="8138220" y="2486025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Теоретический анализ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8138220" y="2943225"/>
            <a:ext cx="40537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Педагогическое моделирование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8138220" y="3400425"/>
            <a:ext cx="40537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Диагностика (ДТМ, КПН, ОПМ)</a:t>
            </a:r>
            <a:endParaRPr lang="en-US" sz="1200" dirty="0"/>
          </a:p>
        </p:txBody>
      </p:sp>
      <p:sp>
        <p:nvSpPr>
          <p:cNvPr id="42" name="Text 19"/>
          <p:cNvSpPr/>
          <p:nvPr/>
        </p:nvSpPr>
        <p:spPr>
          <a:xfrm>
            <a:off x="8138220" y="3857625"/>
            <a:ext cx="3840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Включённое наблюдение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7528620" y="4810125"/>
            <a:ext cx="4053780" cy="5500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Методология обеспечивает комплексную проверку гипотезы на теоретическом, практическом и результативном уровнях.</a:t>
            </a:r>
            <a:endParaRPr lang="en-US" sz="1050" dirty="0"/>
          </a:p>
        </p:txBody>
      </p:sp>
      <p:sp>
        <p:nvSpPr>
          <p:cNvPr id="44" name="Text 21"/>
          <p:cNvSpPr/>
          <p:nvPr/>
        </p:nvSpPr>
        <p:spPr>
          <a:xfrm>
            <a:off x="457200" y="6248400"/>
            <a:ext cx="3840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И МЕТОДЫ ИССЛЕДОВАНИЯ</a:t>
            </a:r>
            <a:endParaRPr lang="en-US" sz="900" dirty="0"/>
          </a:p>
        </p:txBody>
      </p:sp>
      <p:sp>
        <p:nvSpPr>
          <p:cNvPr id="45" name="Text 22"/>
          <p:cNvSpPr/>
          <p:nvPr/>
        </p:nvSpPr>
        <p:spPr>
          <a:xfrm>
            <a:off x="10330755" y="6248400"/>
            <a:ext cx="186124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76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47800"/>
            <a:ext cx="3479750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6764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1790700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247900"/>
            <a:ext cx="1143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2971800"/>
            <a:ext cx="11430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050" y="1447800"/>
            <a:ext cx="3479750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650" y="16764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7525" y="1790700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4650" y="2667000"/>
            <a:ext cx="1524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4650" y="3162300"/>
            <a:ext cx="1333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40601" y="1447800"/>
            <a:ext cx="3479899" cy="2286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16764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3501" y="17907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2476500"/>
            <a:ext cx="3022699" cy="95488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114800"/>
            <a:ext cx="11049000" cy="138588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6300" y="4419600"/>
            <a:ext cx="8191500" cy="77628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48900" y="4693444"/>
            <a:ext cx="228600" cy="228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876300" y="381000"/>
            <a:ext cx="7886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kern="0" spc="-4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ТЕОРЕТИЧЕСКИЕ ОСНОВАНИЯ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876300" y="723900"/>
            <a:ext cx="8001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Психологический аспект исследования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1295400" y="1733550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Л.С. Выготский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028700" y="2209800"/>
            <a:ext cx="27939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ближайшего развития (ЗБР):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Обучение ведет развитие; поддержка педагога при решении задач.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1028700" y="2933700"/>
            <a:ext cx="27939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Единство аффекта и интеллекта: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Нарратив создает эмоциональную вовлеченность.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5079950" y="173355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Ж. Пиаже</a:t>
            </a:r>
            <a:endParaRPr lang="en-US" sz="1500" dirty="0"/>
          </a:p>
        </p:txBody>
      </p:sp>
      <p:sp>
        <p:nvSpPr>
          <p:cNvPr id="27" name="Text 6"/>
          <p:cNvSpPr/>
          <p:nvPr/>
        </p:nvSpPr>
        <p:spPr>
          <a:xfrm>
            <a:off x="4584650" y="2209800"/>
            <a:ext cx="30225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СТАДИЯ КОНКРЕТНЫХ ОПЕРАЦИЙ (7–11 ЛЕТ)</a:t>
            </a:r>
            <a:endParaRPr lang="en-US" sz="900" dirty="0"/>
          </a:p>
        </p:txBody>
      </p:sp>
      <p:sp>
        <p:nvSpPr>
          <p:cNvPr id="28" name="Text 7"/>
          <p:cNvSpPr/>
          <p:nvPr/>
        </p:nvSpPr>
        <p:spPr>
          <a:xfrm>
            <a:off x="4851350" y="2628900"/>
            <a:ext cx="2755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Классификация и сериация: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Когнитивная база для логических задач.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4832300" y="3124200"/>
            <a:ext cx="2774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Сохранение количества: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Фундамент для понимания инвариантов.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8864501" y="1733550"/>
            <a:ext cx="33274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Нейропсихология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8369201" y="2209800"/>
            <a:ext cx="3291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А.Р. ЛУРИЯ, Т.В. АХУТИНА</a:t>
            </a:r>
            <a:endParaRPr lang="en-US" sz="900" dirty="0"/>
          </a:p>
        </p:txBody>
      </p:sp>
      <p:sp>
        <p:nvSpPr>
          <p:cNvPr id="32" name="Text 11"/>
          <p:cNvSpPr/>
          <p:nvPr/>
        </p:nvSpPr>
        <p:spPr>
          <a:xfrm>
            <a:off x="8521601" y="2628900"/>
            <a:ext cx="2717899" cy="6500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i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Инструментарий для снижения когнитивной нагрузки через структуру материала.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876300" y="4419600"/>
            <a:ext cx="8641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Обоснование континуума НАРРАТИВ → ПРОБЛЕМА</a:t>
            </a:r>
            <a:endParaRPr lang="en-US" sz="1350" dirty="0"/>
          </a:p>
        </p:txBody>
      </p:sp>
      <p:sp>
        <p:nvSpPr>
          <p:cNvPr id="34" name="Text 13"/>
          <p:cNvSpPr/>
          <p:nvPr/>
        </p:nvSpPr>
        <p:spPr>
          <a:xfrm>
            <a:off x="876300" y="4762500"/>
            <a:ext cx="7810500" cy="4333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Методический инструмент, нейропсихологически обоснованный для младшего школьного возраста. Обеспечивает плавный переход от игрового/сказочного контекста к чистому интеллектуальному поиску.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9448800" y="4583906"/>
            <a:ext cx="571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кл.</a:t>
            </a:r>
            <a:endParaRPr lang="en-US" sz="1800" dirty="0"/>
          </a:p>
        </p:txBody>
      </p:sp>
      <p:sp>
        <p:nvSpPr>
          <p:cNvPr id="36" name="Text 15"/>
          <p:cNvSpPr/>
          <p:nvPr/>
        </p:nvSpPr>
        <p:spPr>
          <a:xfrm>
            <a:off x="9410700" y="4888706"/>
            <a:ext cx="6096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kern="0" spc="6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</a:t>
            </a:r>
            <a:endParaRPr lang="en-US" sz="750" dirty="0"/>
          </a:p>
        </p:txBody>
      </p:sp>
      <p:sp>
        <p:nvSpPr>
          <p:cNvPr id="37" name="Text 16"/>
          <p:cNvSpPr/>
          <p:nvPr/>
        </p:nvSpPr>
        <p:spPr>
          <a:xfrm>
            <a:off x="10706100" y="4583906"/>
            <a:ext cx="609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кл.</a:t>
            </a:r>
            <a:endParaRPr lang="en-US" sz="1800" dirty="0"/>
          </a:p>
        </p:txBody>
      </p:sp>
      <p:sp>
        <p:nvSpPr>
          <p:cNvPr id="38" name="Text 17"/>
          <p:cNvSpPr/>
          <p:nvPr/>
        </p:nvSpPr>
        <p:spPr>
          <a:xfrm>
            <a:off x="10706100" y="4888706"/>
            <a:ext cx="6096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25"/>
              </a:lnSpc>
              <a:buNone/>
            </a:pPr>
            <a:r>
              <a:rPr lang="en-US" sz="750" kern="0" spc="6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750" dirty="0"/>
          </a:p>
        </p:txBody>
      </p:sp>
      <p:sp>
        <p:nvSpPr>
          <p:cNvPr id="39" name="Text 18"/>
          <p:cNvSpPr/>
          <p:nvPr/>
        </p:nvSpPr>
        <p:spPr>
          <a:xfrm>
            <a:off x="571500" y="6334125"/>
            <a:ext cx="38481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 | 2026</a:t>
            </a:r>
            <a:endParaRPr lang="en-US" sz="750" dirty="0"/>
          </a:p>
        </p:txBody>
      </p:sp>
      <p:sp>
        <p:nvSpPr>
          <p:cNvPr id="40" name="Text 19"/>
          <p:cNvSpPr/>
          <p:nvPr/>
        </p:nvSpPr>
        <p:spPr>
          <a:xfrm>
            <a:off x="10334625" y="6334125"/>
            <a:ext cx="8001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</a:t>
            </a:r>
            <a:endParaRPr lang="en-US" sz="750" dirty="0"/>
          </a:p>
        </p:txBody>
      </p:sp>
      <p:sp>
        <p:nvSpPr>
          <p:cNvPr id="41" name="Text 20"/>
          <p:cNvSpPr/>
          <p:nvPr/>
        </p:nvSpPr>
        <p:spPr>
          <a:xfrm>
            <a:off x="11087100" y="6334125"/>
            <a:ext cx="8001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ПСКОВГУ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2913"/>
            <a:ext cx="762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19225"/>
            <a:ext cx="3682454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00225"/>
            <a:ext cx="2133600" cy="14239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52625"/>
            <a:ext cx="355402" cy="22383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268141"/>
            <a:ext cx="2190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1800225"/>
            <a:ext cx="2133600" cy="142398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5600" y="1952625"/>
            <a:ext cx="374452" cy="22383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5600" y="2268141"/>
            <a:ext cx="21907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1800225"/>
            <a:ext cx="2133600" cy="142398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81600" y="1952625"/>
            <a:ext cx="383977" cy="22383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1600" y="2268141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1800225"/>
            <a:ext cx="2133600" cy="142398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7600" y="1952625"/>
            <a:ext cx="383977" cy="22383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67600" y="2268141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01200" y="1800225"/>
            <a:ext cx="2133600" cy="142398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600" y="1952625"/>
            <a:ext cx="374452" cy="22383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53600" y="2268141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3490913"/>
            <a:ext cx="2749004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3871913"/>
            <a:ext cx="5524500" cy="15430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" y="4062412"/>
            <a:ext cx="5334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5813" y="4214813"/>
            <a:ext cx="257175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10300" y="3871913"/>
            <a:ext cx="5524500" cy="15430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00800" y="4062412"/>
            <a:ext cx="533400" cy="533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1775" y="4214813"/>
            <a:ext cx="171450" cy="2286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762000" y="381000"/>
            <a:ext cx="114300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ТЕОРЕТИЧЕСКИЕ ОСНОВАНИЯ: МЕТОДИЧЕСКИЙ АСПЕКТ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762000" y="847725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Операциональная модель мышления и концептуальная база подходов</a:t>
            </a:r>
            <a:endParaRPr lang="en-US" sz="1350" dirty="0"/>
          </a:p>
        </p:txBody>
      </p:sp>
      <p:sp>
        <p:nvSpPr>
          <p:cNvPr id="29" name="Text 2"/>
          <p:cNvSpPr/>
          <p:nvPr/>
        </p:nvSpPr>
        <p:spPr>
          <a:xfrm>
            <a:off x="571500" y="1419225"/>
            <a:ext cx="49742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КОМПОНЕНТОВ МАТЕМАТИЧЕСКОГО МЫШЛЕНИЯ</a:t>
            </a:r>
            <a:endParaRPr lang="en-US" sz="900" dirty="0"/>
          </a:p>
        </p:txBody>
      </p:sp>
      <p:sp>
        <p:nvSpPr>
          <p:cNvPr id="30" name="Text 3"/>
          <p:cNvSpPr/>
          <p:nvPr/>
        </p:nvSpPr>
        <p:spPr>
          <a:xfrm>
            <a:off x="704850" y="1952625"/>
            <a:ext cx="183850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К1</a:t>
            </a:r>
            <a:endParaRPr lang="en-US" sz="975" dirty="0"/>
          </a:p>
        </p:txBody>
      </p:sp>
      <p:sp>
        <p:nvSpPr>
          <p:cNvPr id="31" name="Text 4"/>
          <p:cNvSpPr/>
          <p:nvPr/>
        </p:nvSpPr>
        <p:spPr>
          <a:xfrm>
            <a:off x="609600" y="2538413"/>
            <a:ext cx="3657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Логико-аналитический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609600" y="2767013"/>
            <a:ext cx="1828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Анализ, классификация, дедукция</a:t>
            </a:r>
            <a:endParaRPr lang="en-US" sz="900" dirty="0"/>
          </a:p>
        </p:txBody>
      </p:sp>
      <p:sp>
        <p:nvSpPr>
          <p:cNvPr id="33" name="Text 6"/>
          <p:cNvSpPr/>
          <p:nvPr/>
        </p:nvSpPr>
        <p:spPr>
          <a:xfrm>
            <a:off x="2990850" y="1952625"/>
            <a:ext cx="194655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К2</a:t>
            </a:r>
            <a:endParaRPr lang="en-US" sz="975" dirty="0"/>
          </a:p>
        </p:txBody>
      </p:sp>
      <p:sp>
        <p:nvSpPr>
          <p:cNvPr id="34" name="Text 7"/>
          <p:cNvSpPr/>
          <p:nvPr/>
        </p:nvSpPr>
        <p:spPr>
          <a:xfrm>
            <a:off x="2895600" y="2538413"/>
            <a:ext cx="2377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Комбинаторный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2895600" y="2767013"/>
            <a:ext cx="3840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Перебор вариантов, стратегии</a:t>
            </a:r>
            <a:endParaRPr lang="en-US" sz="900" dirty="0"/>
          </a:p>
        </p:txBody>
      </p:sp>
      <p:sp>
        <p:nvSpPr>
          <p:cNvPr id="36" name="Text 9"/>
          <p:cNvSpPr/>
          <p:nvPr/>
        </p:nvSpPr>
        <p:spPr>
          <a:xfrm>
            <a:off x="5276850" y="1952625"/>
            <a:ext cx="199656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К3</a:t>
            </a:r>
            <a:endParaRPr lang="en-US" sz="975" dirty="0"/>
          </a:p>
        </p:txBody>
      </p:sp>
      <p:sp>
        <p:nvSpPr>
          <p:cNvPr id="37" name="Text 10"/>
          <p:cNvSpPr/>
          <p:nvPr/>
        </p:nvSpPr>
        <p:spPr>
          <a:xfrm>
            <a:off x="5181600" y="2538413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Пространственный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5181600" y="2767013"/>
            <a:ext cx="38404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Геометрия, образ, ориентация</a:t>
            </a:r>
            <a:endParaRPr lang="en-US" sz="900" dirty="0"/>
          </a:p>
        </p:txBody>
      </p:sp>
      <p:sp>
        <p:nvSpPr>
          <p:cNvPr id="39" name="Text 12"/>
          <p:cNvSpPr/>
          <p:nvPr/>
        </p:nvSpPr>
        <p:spPr>
          <a:xfrm>
            <a:off x="7562850" y="1952625"/>
            <a:ext cx="199656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К4</a:t>
            </a:r>
            <a:endParaRPr lang="en-US" sz="975" dirty="0"/>
          </a:p>
        </p:txBody>
      </p:sp>
      <p:sp>
        <p:nvSpPr>
          <p:cNvPr id="40" name="Text 13"/>
          <p:cNvSpPr/>
          <p:nvPr/>
        </p:nvSpPr>
        <p:spPr>
          <a:xfrm>
            <a:off x="7467600" y="2538413"/>
            <a:ext cx="2926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Аргументационный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7467600" y="2767013"/>
            <a:ext cx="37033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Обоснование, доказательство</a:t>
            </a:r>
            <a:endParaRPr lang="en-US" sz="900" dirty="0"/>
          </a:p>
        </p:txBody>
      </p:sp>
      <p:sp>
        <p:nvSpPr>
          <p:cNvPr id="42" name="Text 15"/>
          <p:cNvSpPr/>
          <p:nvPr/>
        </p:nvSpPr>
        <p:spPr>
          <a:xfrm>
            <a:off x="9848850" y="1952625"/>
            <a:ext cx="194655" cy="2238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b="1" kern="0" spc="3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К5</a:t>
            </a:r>
            <a:endParaRPr lang="en-US" sz="975" dirty="0"/>
          </a:p>
        </p:txBody>
      </p:sp>
      <p:sp>
        <p:nvSpPr>
          <p:cNvPr id="43" name="Text 16"/>
          <p:cNvSpPr/>
          <p:nvPr/>
        </p:nvSpPr>
        <p:spPr>
          <a:xfrm>
            <a:off x="9753600" y="2538413"/>
            <a:ext cx="21945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Рефлексивный</a:t>
            </a:r>
            <a:endParaRPr lang="en-US" sz="1200" dirty="0"/>
          </a:p>
        </p:txBody>
      </p:sp>
      <p:sp>
        <p:nvSpPr>
          <p:cNvPr id="44" name="Text 17"/>
          <p:cNvSpPr/>
          <p:nvPr/>
        </p:nvSpPr>
        <p:spPr>
          <a:xfrm>
            <a:off x="9753600" y="2767013"/>
            <a:ext cx="2438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процесса решения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571500" y="3490913"/>
            <a:ext cx="35211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КОНЦЕПТУАЛЬНАЯ БАЗА ПОДХОДОВ</a:t>
            </a:r>
            <a:endParaRPr lang="en-US" sz="900" dirty="0"/>
          </a:p>
        </p:txBody>
      </p:sp>
      <p:sp>
        <p:nvSpPr>
          <p:cNvPr id="46" name="Text 19"/>
          <p:cNvSpPr/>
          <p:nvPr/>
        </p:nvSpPr>
        <p:spPr>
          <a:xfrm>
            <a:off x="1371600" y="4062412"/>
            <a:ext cx="4419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НАРРАТИВНЫЙ ПОДХОД</a:t>
            </a:r>
            <a:endParaRPr lang="en-US" sz="900" dirty="0"/>
          </a:p>
        </p:txBody>
      </p:sp>
      <p:sp>
        <p:nvSpPr>
          <p:cNvPr id="47" name="Text 20"/>
          <p:cNvSpPr/>
          <p:nvPr/>
        </p:nvSpPr>
        <p:spPr>
          <a:xfrm>
            <a:off x="1371600" y="4252913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Дж. Брунер</a:t>
            </a:r>
            <a:endParaRPr lang="en-US" sz="1500" dirty="0"/>
          </a:p>
        </p:txBody>
      </p:sp>
      <p:sp>
        <p:nvSpPr>
          <p:cNvPr id="48" name="Text 21"/>
          <p:cNvSpPr/>
          <p:nvPr/>
        </p:nvSpPr>
        <p:spPr>
          <a:xfrm>
            <a:off x="1371600" y="4595813"/>
            <a:ext cx="44196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 — </a:t>
            </a: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первичный модус познания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Сюжет снижает когнитивную нагрузку и обеспечивает эмоциональную вовлечённость ребёнка в учебную задачу.</a:t>
            </a:r>
            <a:endParaRPr lang="en-US" sz="1200" dirty="0"/>
          </a:p>
        </p:txBody>
      </p:sp>
      <p:sp>
        <p:nvSpPr>
          <p:cNvPr id="49" name="Text 22"/>
          <p:cNvSpPr/>
          <p:nvPr/>
        </p:nvSpPr>
        <p:spPr>
          <a:xfrm>
            <a:off x="7124700" y="4062412"/>
            <a:ext cx="4419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ПРОБЛЕМНОЕ ОБУЧЕНИЕ</a:t>
            </a:r>
            <a:endParaRPr lang="en-US" sz="900" dirty="0"/>
          </a:p>
        </p:txBody>
      </p:sp>
      <p:sp>
        <p:nvSpPr>
          <p:cNvPr id="50" name="Text 23"/>
          <p:cNvSpPr/>
          <p:nvPr/>
        </p:nvSpPr>
        <p:spPr>
          <a:xfrm>
            <a:off x="7124700" y="4252913"/>
            <a:ext cx="441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А.М. Матюшкин</a:t>
            </a:r>
            <a:endParaRPr lang="en-US" sz="1500" dirty="0"/>
          </a:p>
        </p:txBody>
      </p:sp>
      <p:sp>
        <p:nvSpPr>
          <p:cNvPr id="51" name="Text 24"/>
          <p:cNvSpPr/>
          <p:nvPr/>
        </p:nvSpPr>
        <p:spPr>
          <a:xfrm>
            <a:off x="7124700" y="4595813"/>
            <a:ext cx="44196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Проблемная ситуация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создаёт интеллектуальный конфликт. Открытые задачи и доказательства — инструменты активного мышления, а не репродукции.</a:t>
            </a:r>
            <a:endParaRPr lang="en-US" sz="1200" dirty="0"/>
          </a:p>
        </p:txBody>
      </p:sp>
      <p:sp>
        <p:nvSpPr>
          <p:cNvPr id="52" name="Text 25"/>
          <p:cNvSpPr/>
          <p:nvPr/>
        </p:nvSpPr>
        <p:spPr>
          <a:xfrm>
            <a:off x="457200" y="6477000"/>
            <a:ext cx="4800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МАСТЕРСКАЯ МАТЕМАТИЧЕСКОГО МЫШЛЕНИЯ</a:t>
            </a:r>
            <a:endParaRPr lang="en-US" sz="900" dirty="0"/>
          </a:p>
        </p:txBody>
      </p:sp>
      <p:sp>
        <p:nvSpPr>
          <p:cNvPr id="53" name="Text 26"/>
          <p:cNvSpPr/>
          <p:nvPr/>
        </p:nvSpPr>
        <p:spPr>
          <a:xfrm>
            <a:off x="10330755" y="6477000"/>
            <a:ext cx="186124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0063"/>
            <a:ext cx="762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33525"/>
            <a:ext cx="3555950" cy="2133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301" y="1762125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6513" y="1952625"/>
            <a:ext cx="25717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1533525"/>
            <a:ext cx="3555950" cy="2133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051" y="1762125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5839" y="1952625"/>
            <a:ext cx="200025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8701" y="1533525"/>
            <a:ext cx="3556099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1950" y="1762125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2450" y="1952625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124325"/>
            <a:ext cx="312837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4326285"/>
            <a:ext cx="84237" cy="8423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0" y="4124325"/>
            <a:ext cx="308967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328220"/>
            <a:ext cx="80367" cy="8036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6029325"/>
            <a:ext cx="11277600" cy="37147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457200"/>
            <a:ext cx="114300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НАРРАТИВНАЯ ТЕХНОЛОГИЯ И ПРОБЛЕМНОЕ ОБУЧЕНИЕ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762000" y="885825"/>
            <a:ext cx="1143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Механизм «нарративного разрыва» как драйвер мышления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306413" y="2524125"/>
            <a:ext cx="18573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 (Брунер)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685800" y="2867025"/>
            <a:ext cx="30987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Сюжетная канва, сквозные </a:t>
            </a:r>
            <a:r>
              <a:rPr lang="en-US" sz="10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герои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r>
              <a:rPr lang="ru-RU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Квад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ru-RU" sz="1050" dirty="0" err="1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Риви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Снижение когнитивной нагрузки и первичная вовлеченность.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5048101" y="2524125"/>
            <a:ext cx="2095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Нарративный разрыв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4546550" y="2867025"/>
            <a:ext cx="30987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Интеллектуальный конфликт: момент выхода из истории в поле открытой математической проблемы.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8832800" y="2524125"/>
            <a:ext cx="2247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 (Матюшкин)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8407301" y="2867025"/>
            <a:ext cx="3098899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Активный поиск решения, моделирование и доказательство. Перевод аффекта в когнитивную деятельность.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922437" y="4124325"/>
            <a:ext cx="5966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Единство аффекта и интеллекта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922437" y="4429125"/>
            <a:ext cx="498306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Л.С. Выготскому: нарратив создает мотивационное «топливо», превращая решение задачи из скучной обязанности в личный вызов для ребенка.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747867" y="4124325"/>
            <a:ext cx="54441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когнитивной нагрузки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6747867" y="4429125"/>
            <a:ext cx="498693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материала (нейропсихологический аспект) позволяет фокусировать внимание на логике задачи, а не на преодолении страха перед неизвестным.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457200" y="6257925"/>
            <a:ext cx="40005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МАСТЕРСКАЯ МАТЕМАТИЧЕСКОГО МЫШЛЕНИЯ</a:t>
            </a:r>
            <a:endParaRPr lang="en-US" sz="750" dirty="0"/>
          </a:p>
        </p:txBody>
      </p:sp>
      <p:sp>
        <p:nvSpPr>
          <p:cNvPr id="31" name="Text 13"/>
          <p:cNvSpPr/>
          <p:nvPr/>
        </p:nvSpPr>
        <p:spPr>
          <a:xfrm>
            <a:off x="5667375" y="6257925"/>
            <a:ext cx="38100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СЛАЙД 12 — МЕТОДИЧЕСКИЙ МЕХАНИЗМ</a:t>
            </a:r>
            <a:endParaRPr lang="en-US" sz="750" dirty="0"/>
          </a:p>
        </p:txBody>
      </p:sp>
      <p:sp>
        <p:nvSpPr>
          <p:cNvPr id="32" name="Text 14"/>
          <p:cNvSpPr/>
          <p:nvPr/>
        </p:nvSpPr>
        <p:spPr>
          <a:xfrm>
            <a:off x="10572750" y="6257925"/>
            <a:ext cx="161925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2444"/>
            <a:ext cx="76200" cy="533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85888"/>
            <a:ext cx="3606701" cy="13430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588294"/>
            <a:ext cx="2190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1" y="1385888"/>
            <a:ext cx="3606850" cy="13430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3001" y="1588294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7950" y="1385888"/>
            <a:ext cx="3606701" cy="13430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8450" y="1588294"/>
            <a:ext cx="17145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2957513"/>
            <a:ext cx="3606701" cy="14192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3159919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2501" y="2957513"/>
            <a:ext cx="3606850" cy="14192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001" y="3159919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7950" y="2957513"/>
            <a:ext cx="3606701" cy="14192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8426" y="3148013"/>
            <a:ext cx="285750" cy="285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895850"/>
            <a:ext cx="11277600" cy="15049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162550"/>
            <a:ext cx="171450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762000" y="457200"/>
            <a:ext cx="11430000" cy="3571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13"/>
              </a:lnSpc>
              <a:buNone/>
            </a:pPr>
            <a:r>
              <a:rPr lang="en-US" sz="22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СРАВНИТЕЛЬНЫЙ АНАЛИЗ ОТЕЧЕСТВЕННЫХ МЕТОДИК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762000" y="814388"/>
            <a:ext cx="10492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Обоснование «избирательного синтеза» лучших практик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981075" y="1576388"/>
            <a:ext cx="452628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Петерсон (ТДМ)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647700" y="1905000"/>
            <a:ext cx="32257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9-этапная модель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647700" y="2171700"/>
            <a:ext cx="3225701" cy="366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Формирование </a:t>
            </a: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вариативного мышления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через самостоятельное открытие знаний.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4787801" y="1576388"/>
            <a:ext cx="329184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Эльконин-Давыдов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4483001" y="1905000"/>
            <a:ext cx="3520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Теоретическое мышление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4483001" y="2171700"/>
            <a:ext cx="3225850" cy="366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Прирост </a:t>
            </a: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+15–20% УУД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за счет акцента на рефлексию и анализ способов действия.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8604200" y="1576388"/>
            <a:ext cx="308610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Занкова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8318450" y="1905000"/>
            <a:ext cx="3840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Высокий темп и трудность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8318450" y="2171700"/>
            <a:ext cx="3225701" cy="366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Интенсивное развитие и значимый </a:t>
            </a: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прирост в арифметических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навыках.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952500" y="3148013"/>
            <a:ext cx="370332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Аргинской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647700" y="3476625"/>
            <a:ext cx="322570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«Метод коллизий»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647700" y="3743325"/>
            <a:ext cx="3225701" cy="366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Эффективное освоение </a:t>
            </a: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комбинаторики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алгоритмизации через столкновение идей.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4835426" y="3148013"/>
            <a:ext cx="3291840" cy="2143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Столяра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4483001" y="3476625"/>
            <a:ext cx="32258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Игровой контекст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4483001" y="3743325"/>
            <a:ext cx="3225850" cy="3667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44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Развитие основ </a:t>
            </a:r>
            <a:r>
              <a:rPr lang="en-US" sz="105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логики</a:t>
            </a: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через сюжетно-игровые ситуации и наглядность.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8821638" y="3548063"/>
            <a:ext cx="22193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Избирательный синтез</a:t>
            </a:r>
            <a:endParaRPr lang="en-US" sz="1500" dirty="0"/>
          </a:p>
        </p:txBody>
      </p:sp>
      <p:sp>
        <p:nvSpPr>
          <p:cNvPr id="36" name="Text 18"/>
          <p:cNvSpPr/>
          <p:nvPr/>
        </p:nvSpPr>
        <p:spPr>
          <a:xfrm>
            <a:off x="8318450" y="3852863"/>
            <a:ext cx="3225701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13"/>
              </a:lnSpc>
              <a:buNone/>
            </a:pPr>
            <a:r>
              <a:rPr lang="en-US" sz="105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сильных сторон каждой системы в авторском курсе</a:t>
            </a:r>
            <a:endParaRPr lang="en-US" sz="1050" dirty="0"/>
          </a:p>
        </p:txBody>
      </p:sp>
      <p:sp>
        <p:nvSpPr>
          <p:cNvPr id="37" name="Text 19"/>
          <p:cNvSpPr/>
          <p:nvPr/>
        </p:nvSpPr>
        <p:spPr>
          <a:xfrm>
            <a:off x="1009650" y="5124450"/>
            <a:ext cx="10496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анализа:</a:t>
            </a:r>
            <a:endParaRPr lang="en-US" sz="1350" dirty="0"/>
          </a:p>
        </p:txBody>
      </p:sp>
      <p:sp>
        <p:nvSpPr>
          <p:cNvPr id="38" name="Text 20"/>
          <p:cNvSpPr/>
          <p:nvPr/>
        </p:nvSpPr>
        <p:spPr>
          <a:xfrm>
            <a:off x="1009650" y="5429250"/>
            <a:ext cx="10496550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 одна из систем не является универсальной для развития всех компонентов математического мышления. Авторский курс «Мастерская математического мышления» объединяет </a:t>
            </a: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логику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(Столяр), </a:t>
            </a: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комбинаторику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(Аргинская) и </a:t>
            </a: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рефлексивность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(Эльконин-Давыдов) в единую систему.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76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361" y="438150"/>
            <a:ext cx="3208139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43000"/>
            <a:ext cx="11049000" cy="11953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73994"/>
            <a:ext cx="45467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1681163"/>
            <a:ext cx="149870" cy="14987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1600" y="1797844"/>
            <a:ext cx="4572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4550" y="1797844"/>
            <a:ext cx="457200" cy="38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100" y="1797844"/>
            <a:ext cx="457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2643188"/>
            <a:ext cx="3530501" cy="270033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32820" y="2871788"/>
            <a:ext cx="840581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595688"/>
            <a:ext cx="11430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4090987"/>
            <a:ext cx="11430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810125"/>
            <a:ext cx="3073301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30601" y="2643188"/>
            <a:ext cx="3530650" cy="270033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42050" y="2871788"/>
            <a:ext cx="990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9201" y="3328988"/>
            <a:ext cx="11430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9201" y="3824288"/>
            <a:ext cx="11430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59201" y="4810125"/>
            <a:ext cx="307345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89850" y="2643188"/>
            <a:ext cx="3530501" cy="2700338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53551" y="2871788"/>
            <a:ext cx="838200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3328988"/>
            <a:ext cx="11430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3824288"/>
            <a:ext cx="11430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450" y="4810125"/>
            <a:ext cx="3073301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648325"/>
            <a:ext cx="11049000" cy="533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" y="5819775"/>
            <a:ext cx="190500" cy="190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876300" y="438150"/>
            <a:ext cx="10287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kern="0" spc="-4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ЗАРУБЕЖНЫЙ ОПЫТ И ДАННЫЕ TIMSS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8564761" y="438150"/>
            <a:ext cx="362723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8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МЕЖДУНАРОДНЫХ ПРАКТИК</a:t>
            </a:r>
            <a:endParaRPr lang="en-US" sz="1050" dirty="0"/>
          </a:p>
        </p:txBody>
      </p:sp>
      <p:sp>
        <p:nvSpPr>
          <p:cNvPr id="30" name="Text 2"/>
          <p:cNvSpPr/>
          <p:nvPr/>
        </p:nvSpPr>
        <p:spPr>
          <a:xfrm>
            <a:off x="1559570" y="1371600"/>
            <a:ext cx="7127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TIMSS (2015–2023)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1559570" y="1676400"/>
            <a:ext cx="7127230" cy="4333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Исследования подтверждают: успех в математике обеспечивается не только знанием алгоритмов, но и развитием </a:t>
            </a: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когнитивных доменов высокого уровня</a:t>
            </a: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(рассуждение, применение в новых ситуациях).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9015413" y="1607344"/>
            <a:ext cx="822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Знание</a:t>
            </a:r>
            <a:endParaRPr lang="en-US" sz="900" dirty="0"/>
          </a:p>
        </p:txBody>
      </p:sp>
      <p:sp>
        <p:nvSpPr>
          <p:cNvPr id="33" name="Text 5"/>
          <p:cNvSpPr/>
          <p:nvPr/>
        </p:nvSpPr>
        <p:spPr>
          <a:xfrm>
            <a:off x="9601200" y="1607344"/>
            <a:ext cx="13716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Применение</a:t>
            </a:r>
            <a:endParaRPr lang="en-US" sz="900" dirty="0"/>
          </a:p>
        </p:txBody>
      </p:sp>
      <p:sp>
        <p:nvSpPr>
          <p:cNvPr id="34" name="Text 6"/>
          <p:cNvSpPr/>
          <p:nvPr/>
        </p:nvSpPr>
        <p:spPr>
          <a:xfrm>
            <a:off x="10477500" y="1607344"/>
            <a:ext cx="15087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РАССУЖДЕНИЕ</a:t>
            </a:r>
            <a:endParaRPr lang="en-US" sz="900" dirty="0"/>
          </a:p>
        </p:txBody>
      </p:sp>
      <p:sp>
        <p:nvSpPr>
          <p:cNvPr id="35" name="Text 7"/>
          <p:cNvSpPr/>
          <p:nvPr/>
        </p:nvSpPr>
        <p:spPr>
          <a:xfrm>
            <a:off x="800100" y="2871788"/>
            <a:ext cx="223272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Сингапурская математика</a:t>
            </a:r>
            <a:endParaRPr lang="en-US" sz="1500" dirty="0"/>
          </a:p>
        </p:txBody>
      </p:sp>
      <p:sp>
        <p:nvSpPr>
          <p:cNvPr id="36" name="Text 8"/>
          <p:cNvSpPr/>
          <p:nvPr/>
        </p:nvSpPr>
        <p:spPr>
          <a:xfrm>
            <a:off x="3109020" y="2871788"/>
            <a:ext cx="68818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CPA Approach</a:t>
            </a:r>
            <a:endParaRPr lang="en-US" sz="900" dirty="0"/>
          </a:p>
        </p:txBody>
      </p:sp>
      <p:sp>
        <p:nvSpPr>
          <p:cNvPr id="37" name="Text 9"/>
          <p:cNvSpPr/>
          <p:nvPr/>
        </p:nvSpPr>
        <p:spPr>
          <a:xfrm>
            <a:off x="990600" y="3557588"/>
            <a:ext cx="28828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Переход: Конкретное → Наглядное → Абстрактное.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990600" y="4052888"/>
            <a:ext cx="28828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Глубокое освоение ограниченного числа тем.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800100" y="4810125"/>
            <a:ext cx="4800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Акцент на визуальном моделировании.</a:t>
            </a:r>
            <a:endParaRPr lang="en-US" sz="900" dirty="0"/>
          </a:p>
        </p:txBody>
      </p:sp>
      <p:sp>
        <p:nvSpPr>
          <p:cNvPr id="40" name="Text 12"/>
          <p:cNvSpPr/>
          <p:nvPr/>
        </p:nvSpPr>
        <p:spPr>
          <a:xfrm>
            <a:off x="4559201" y="2871788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RME (Нидерланды)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6718250" y="2871788"/>
            <a:ext cx="1508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Context-Based</a:t>
            </a:r>
            <a:endParaRPr lang="en-US" sz="900" dirty="0"/>
          </a:p>
        </p:txBody>
      </p:sp>
      <p:sp>
        <p:nvSpPr>
          <p:cNvPr id="42" name="Text 14"/>
          <p:cNvSpPr/>
          <p:nvPr/>
        </p:nvSpPr>
        <p:spPr>
          <a:xfrm>
            <a:off x="4749701" y="3290888"/>
            <a:ext cx="28829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Математика как человеческая деятельность.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4749701" y="3786188"/>
            <a:ext cx="28829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в реалистичных контекстах (Guided Reinvention).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4559201" y="4810125"/>
            <a:ext cx="46634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 для нарративного подхода.</a:t>
            </a:r>
            <a:endParaRPr lang="en-US" sz="900" dirty="0"/>
          </a:p>
        </p:txBody>
      </p:sp>
      <p:sp>
        <p:nvSpPr>
          <p:cNvPr id="45" name="Text 17"/>
          <p:cNvSpPr/>
          <p:nvPr/>
        </p:nvSpPr>
        <p:spPr>
          <a:xfrm>
            <a:off x="8318450" y="2871788"/>
            <a:ext cx="38735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JUMP Math (Канада)</a:t>
            </a:r>
            <a:endParaRPr lang="en-US" sz="1500" dirty="0"/>
          </a:p>
        </p:txBody>
      </p:sp>
      <p:sp>
        <p:nvSpPr>
          <p:cNvPr id="46" name="Text 18"/>
          <p:cNvSpPr/>
          <p:nvPr/>
        </p:nvSpPr>
        <p:spPr>
          <a:xfrm>
            <a:off x="10629751" y="2871788"/>
            <a:ext cx="1234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Micro-steps</a:t>
            </a:r>
            <a:endParaRPr lang="en-US" sz="900" dirty="0"/>
          </a:p>
        </p:txBody>
      </p:sp>
      <p:sp>
        <p:nvSpPr>
          <p:cNvPr id="47" name="Text 19"/>
          <p:cNvSpPr/>
          <p:nvPr/>
        </p:nvSpPr>
        <p:spPr>
          <a:xfrm>
            <a:off x="8508950" y="3290888"/>
            <a:ext cx="28828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Снятие когнитивной нагрузки и тревожности.</a:t>
            </a:r>
            <a:endParaRPr lang="en-US" sz="1050" dirty="0"/>
          </a:p>
        </p:txBody>
      </p:sp>
      <p:sp>
        <p:nvSpPr>
          <p:cNvPr id="48" name="Text 20"/>
          <p:cNvSpPr/>
          <p:nvPr/>
        </p:nvSpPr>
        <p:spPr>
          <a:xfrm>
            <a:off x="8508950" y="3786188"/>
            <a:ext cx="28828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Дробление сложных задач на элементарные шаги.</a:t>
            </a:r>
            <a:endParaRPr lang="en-US" sz="1050" dirty="0"/>
          </a:p>
        </p:txBody>
      </p:sp>
      <p:sp>
        <p:nvSpPr>
          <p:cNvPr id="49" name="Text 21"/>
          <p:cNvSpPr/>
          <p:nvPr/>
        </p:nvSpPr>
        <p:spPr>
          <a:xfrm>
            <a:off x="8318450" y="4810125"/>
            <a:ext cx="38735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для дифференциации уровней.</a:t>
            </a:r>
            <a:endParaRPr lang="en-US" sz="900" dirty="0"/>
          </a:p>
        </p:txBody>
      </p:sp>
      <p:sp>
        <p:nvSpPr>
          <p:cNvPr id="50" name="Text 22"/>
          <p:cNvSpPr/>
          <p:nvPr/>
        </p:nvSpPr>
        <p:spPr>
          <a:xfrm>
            <a:off x="1066800" y="5800725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для курса:</a:t>
            </a:r>
            <a:endParaRPr lang="en-US" sz="1200" dirty="0"/>
          </a:p>
        </p:txBody>
      </p:sp>
      <p:sp>
        <p:nvSpPr>
          <p:cNvPr id="51" name="Text 23"/>
          <p:cNvSpPr/>
          <p:nvPr/>
        </p:nvSpPr>
        <p:spPr>
          <a:xfrm>
            <a:off x="2562225" y="5800725"/>
            <a:ext cx="96297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Избирательный синтез принципов визуализации, контекстности и пошаговости.</a:t>
            </a:r>
            <a:endParaRPr lang="en-US" sz="1200" dirty="0"/>
          </a:p>
        </p:txBody>
      </p:sp>
      <p:sp>
        <p:nvSpPr>
          <p:cNvPr id="52" name="Text 24"/>
          <p:cNvSpPr/>
          <p:nvPr/>
        </p:nvSpPr>
        <p:spPr>
          <a:xfrm>
            <a:off x="9135963" y="5838825"/>
            <a:ext cx="305603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</a:rPr>
              <a:t>Data Ref: TIMSS 2015-2023 Analysis</a:t>
            </a:r>
            <a:endParaRPr lang="en-US" sz="900" dirty="0"/>
          </a:p>
        </p:txBody>
      </p:sp>
      <p:sp>
        <p:nvSpPr>
          <p:cNvPr id="53" name="Text 25"/>
          <p:cNvSpPr/>
          <p:nvPr/>
        </p:nvSpPr>
        <p:spPr>
          <a:xfrm>
            <a:off x="571500" y="6334125"/>
            <a:ext cx="28194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/ ПСКОВГУ 2026</a:t>
            </a:r>
            <a:endParaRPr lang="en-US" sz="750" dirty="0"/>
          </a:p>
        </p:txBody>
      </p:sp>
      <p:sp>
        <p:nvSpPr>
          <p:cNvPr id="54" name="Text 26"/>
          <p:cNvSpPr/>
          <p:nvPr/>
        </p:nvSpPr>
        <p:spPr>
          <a:xfrm>
            <a:off x="9848850" y="6334125"/>
            <a:ext cx="234315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КИНТАС А.А., КОРЕШКОВА Л.С.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9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897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158" y="439411"/>
            <a:ext cx="60026" cy="480210"/>
          </a:xfrm>
          <a:prstGeom prst="rect">
            <a:avLst/>
          </a:prstGeom>
        </p:spPr>
      </p:pic>
      <p:pic>
        <p:nvPicPr>
          <p:cNvPr id="5" name="Image 3" descr="https://static-us-img.skywork.ai/prod/nexus/1776766169/cropped_image_8_177676616904321785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8115" y="439411"/>
            <a:ext cx="513623" cy="48021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158" y="1238979"/>
            <a:ext cx="3663712" cy="102748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158" y="2386513"/>
            <a:ext cx="3663712" cy="102748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3975" y="1238979"/>
            <a:ext cx="7567764" cy="217501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053" y="1427030"/>
            <a:ext cx="165072" cy="19414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4053" y="1772768"/>
            <a:ext cx="172576" cy="16296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7883" y="1772768"/>
            <a:ext cx="172576" cy="16296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4053" y="2102912"/>
            <a:ext cx="172576" cy="16296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7883" y="2102912"/>
            <a:ext cx="172576" cy="16296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4053" y="2469518"/>
            <a:ext cx="7207607" cy="73532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158" y="3660195"/>
            <a:ext cx="217595" cy="1977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158" y="3984243"/>
            <a:ext cx="11472519" cy="210091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158" y="6257738"/>
            <a:ext cx="11471581" cy="240105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0263" y="360158"/>
            <a:ext cx="11591737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ОЛИМПИАДНЫХ ЗАДАЧ (2021–2026)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600263" y="788783"/>
            <a:ext cx="10537774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4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Формирование банка заданий курса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572993" y="1419058"/>
            <a:ext cx="1238042" cy="45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420+</a:t>
            </a:r>
            <a:endParaRPr lang="en-US" sz="3600" dirty="0"/>
          </a:p>
        </p:txBody>
      </p:sp>
      <p:sp>
        <p:nvSpPr>
          <p:cNvPr id="21" name="Text 3"/>
          <p:cNvSpPr/>
          <p:nvPr/>
        </p:nvSpPr>
        <p:spPr>
          <a:xfrm>
            <a:off x="1156561" y="1936316"/>
            <a:ext cx="2070906" cy="1500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82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ПРОАНАЛИЗИРОВАНО ЗАДАЧ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1794340" y="2566592"/>
            <a:ext cx="795348" cy="457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3600" dirty="0"/>
          </a:p>
        </p:txBody>
      </p:sp>
      <p:sp>
        <p:nvSpPr>
          <p:cNvPr id="23" name="Text 5"/>
          <p:cNvSpPr/>
          <p:nvPr/>
        </p:nvSpPr>
        <p:spPr>
          <a:xfrm>
            <a:off x="1295371" y="3083849"/>
            <a:ext cx="1793285" cy="15006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82"/>
              </a:lnSpc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ОТОБРАНО В БАНК КУРСА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4699165" y="1419058"/>
            <a:ext cx="7207607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4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Источники анализа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4706669" y="1749203"/>
            <a:ext cx="4439984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Конкурс «Кенгуру»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8370498" y="1749203"/>
            <a:ext cx="3821502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Олимпиада «Математика 2×2»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4706669" y="2079347"/>
            <a:ext cx="6268212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СПб олимпиада нач. школы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8370498" y="2079347"/>
            <a:ext cx="3821502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Авторские разработки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4564106" y="2589570"/>
            <a:ext cx="6967501" cy="4952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отбора: соответствие когнитивным возможностям 7–11 лет, потенциал для проблемного обучения, возможность нарративной адаптации.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667792" y="3654098"/>
            <a:ext cx="11471581" cy="2100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4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Распределение отобранных задач по типам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360158" y="6377790"/>
            <a:ext cx="9228181" cy="120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45"/>
              </a:lnSpc>
              <a:buNone/>
            </a:pPr>
            <a:r>
              <a:rPr lang="en-US" sz="900" b="1" kern="0" spc="9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ДИССЕРТАЦИЯ: КИНТАС А.А., КОРЕШКОВА Л.С.</a:t>
            </a:r>
            <a:endParaRPr lang="en-US" sz="900" dirty="0"/>
          </a:p>
        </p:txBody>
      </p:sp>
      <p:sp>
        <p:nvSpPr>
          <p:cNvPr id="32" name="Text 14"/>
          <p:cNvSpPr/>
          <p:nvPr/>
        </p:nvSpPr>
        <p:spPr>
          <a:xfrm>
            <a:off x="10421824" y="6377790"/>
            <a:ext cx="1770176" cy="1200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945"/>
              </a:lnSpc>
              <a:buNone/>
            </a:pPr>
            <a:r>
              <a:rPr lang="en-US" sz="900" b="1" kern="0" spc="9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76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09700"/>
            <a:ext cx="2190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66900"/>
            <a:ext cx="1993850" cy="1123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476" y="2019300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7750" y="1866900"/>
            <a:ext cx="1993850" cy="11239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1726" y="2019300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001" y="1866900"/>
            <a:ext cx="1993850" cy="11239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7027" y="2019300"/>
            <a:ext cx="2476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143250"/>
            <a:ext cx="1993850" cy="11239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58813" y="3295650"/>
            <a:ext cx="219075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17750" y="3143250"/>
            <a:ext cx="1993850" cy="11239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90776" y="3295650"/>
            <a:ext cx="2476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64001" y="3143250"/>
            <a:ext cx="1993850" cy="11239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7977" y="3295650"/>
            <a:ext cx="285750" cy="285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495800"/>
            <a:ext cx="6286500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4687937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0" y="1409700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0" y="1866900"/>
            <a:ext cx="43815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91400" y="20193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34275" y="21717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0" y="2743200"/>
            <a:ext cx="4381500" cy="762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91400" y="2895600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24750" y="30480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0" y="3619500"/>
            <a:ext cx="4381500" cy="762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91400" y="37719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43800" y="39243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39000" y="4648200"/>
            <a:ext cx="4381500" cy="952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91400" y="5372100"/>
            <a:ext cx="4076700" cy="76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91400" y="5372100"/>
            <a:ext cx="1508373" cy="76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6096000"/>
            <a:ext cx="11049000" cy="3810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876300" y="381000"/>
            <a:ext cx="11315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kern="0" spc="-4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ТИПОЛОГИЯ ЗАДАЧ И СОВРЕМЕННЫЕ ТЕНДЕНЦИИ</a:t>
            </a:r>
            <a:endParaRPr lang="en-US" sz="2250" dirty="0"/>
          </a:p>
        </p:txBody>
      </p:sp>
      <p:sp>
        <p:nvSpPr>
          <p:cNvPr id="34" name="Text 1"/>
          <p:cNvSpPr/>
          <p:nvPr/>
        </p:nvSpPr>
        <p:spPr>
          <a:xfrm>
            <a:off x="876300" y="762000"/>
            <a:ext cx="11315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Классификация на основе когнитивных функций и анализ олимпиад (2021–2026)</a:t>
            </a:r>
            <a:endParaRPr lang="en-US" sz="1200" dirty="0"/>
          </a:p>
        </p:txBody>
      </p:sp>
      <p:sp>
        <p:nvSpPr>
          <p:cNvPr id="35" name="Text 2"/>
          <p:cNvSpPr/>
          <p:nvPr/>
        </p:nvSpPr>
        <p:spPr>
          <a:xfrm>
            <a:off x="904875" y="1371600"/>
            <a:ext cx="6286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ключевых категорий задач</a:t>
            </a:r>
            <a:endParaRPr lang="en-US" sz="1500" dirty="0"/>
          </a:p>
        </p:txBody>
      </p:sp>
      <p:sp>
        <p:nvSpPr>
          <p:cNvPr id="36" name="Text 3"/>
          <p:cNvSpPr/>
          <p:nvPr/>
        </p:nvSpPr>
        <p:spPr>
          <a:xfrm>
            <a:off x="1106388" y="2419350"/>
            <a:ext cx="923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Логические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730151" y="2686050"/>
            <a:ext cx="1676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Доминирующий тип (34–37%)</a:t>
            </a:r>
            <a:endParaRPr lang="en-US" sz="900" dirty="0"/>
          </a:p>
        </p:txBody>
      </p:sp>
      <p:sp>
        <p:nvSpPr>
          <p:cNvPr id="38" name="Text 5"/>
          <p:cNvSpPr/>
          <p:nvPr/>
        </p:nvSpPr>
        <p:spPr>
          <a:xfrm>
            <a:off x="3157389" y="2419350"/>
            <a:ext cx="11144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Комбинаторные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3162151" y="2647950"/>
            <a:ext cx="11049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Перебор вариантов</a:t>
            </a:r>
            <a:endParaRPr lang="en-US" sz="900" dirty="0"/>
          </a:p>
        </p:txBody>
      </p:sp>
      <p:sp>
        <p:nvSpPr>
          <p:cNvPr id="40" name="Text 7"/>
          <p:cNvSpPr/>
          <p:nvPr/>
        </p:nvSpPr>
        <p:spPr>
          <a:xfrm>
            <a:off x="5208389" y="2419350"/>
            <a:ext cx="13049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Геометрические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5317926" y="2705100"/>
            <a:ext cx="1195387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Пространственные</a:t>
            </a:r>
            <a:endParaRPr lang="en-US" sz="900" dirty="0"/>
          </a:p>
        </p:txBody>
      </p:sp>
      <p:sp>
        <p:nvSpPr>
          <p:cNvPr id="42" name="Text 9"/>
          <p:cNvSpPr/>
          <p:nvPr/>
        </p:nvSpPr>
        <p:spPr>
          <a:xfrm>
            <a:off x="887313" y="3695700"/>
            <a:ext cx="1362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Арифметические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982563" y="3962400"/>
            <a:ext cx="11715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Нестандартный счет</a:t>
            </a:r>
            <a:endParaRPr lang="en-US" sz="900" dirty="0"/>
          </a:p>
        </p:txBody>
      </p:sp>
      <p:sp>
        <p:nvSpPr>
          <p:cNvPr id="44" name="Text 11"/>
          <p:cNvSpPr/>
          <p:nvPr/>
        </p:nvSpPr>
        <p:spPr>
          <a:xfrm>
            <a:off x="3085951" y="3695700"/>
            <a:ext cx="1257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Стратегические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3205014" y="3962400"/>
            <a:ext cx="10191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Игры и алгоритмы</a:t>
            </a:r>
            <a:endParaRPr lang="en-US" sz="900" dirty="0"/>
          </a:p>
        </p:txBody>
      </p:sp>
      <p:sp>
        <p:nvSpPr>
          <p:cNvPr id="46" name="Text 13"/>
          <p:cNvSpPr/>
          <p:nvPr/>
        </p:nvSpPr>
        <p:spPr>
          <a:xfrm>
            <a:off x="5565577" y="3695700"/>
            <a:ext cx="5905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Ребусы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5443605" y="3962400"/>
            <a:ext cx="94402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Криптография</a:t>
            </a:r>
            <a:endParaRPr lang="en-US" sz="900" dirty="0"/>
          </a:p>
        </p:txBody>
      </p:sp>
      <p:sp>
        <p:nvSpPr>
          <p:cNvPr id="48" name="Text 15"/>
          <p:cNvSpPr/>
          <p:nvPr/>
        </p:nvSpPr>
        <p:spPr>
          <a:xfrm>
            <a:off x="933450" y="4495800"/>
            <a:ext cx="59817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Типология построена с учетом психологических барьеров и когнитивных функций младших школьников.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7543800" y="1371600"/>
            <a:ext cx="4648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Тенденции 2021–2026</a:t>
            </a:r>
            <a:endParaRPr lang="en-US" sz="1500" dirty="0"/>
          </a:p>
        </p:txBody>
      </p:sp>
      <p:sp>
        <p:nvSpPr>
          <p:cNvPr id="50" name="Text 17"/>
          <p:cNvSpPr/>
          <p:nvPr/>
        </p:nvSpPr>
        <p:spPr>
          <a:xfrm>
            <a:off x="8001000" y="2057400"/>
            <a:ext cx="3291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Рост нарративности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8001000" y="2286000"/>
            <a:ext cx="4191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Сюжетная оболочка, персонажи (Робокот, Федя).</a:t>
            </a:r>
            <a:endParaRPr lang="en-US" sz="900" dirty="0"/>
          </a:p>
        </p:txBody>
      </p:sp>
      <p:sp>
        <p:nvSpPr>
          <p:cNvPr id="52" name="Text 19"/>
          <p:cNvSpPr/>
          <p:nvPr/>
        </p:nvSpPr>
        <p:spPr>
          <a:xfrm>
            <a:off x="8001000" y="2933700"/>
            <a:ext cx="2743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Цифровые сюжеты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8001000" y="3162300"/>
            <a:ext cx="4191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про гаджеты, интерфейсы и коды.</a:t>
            </a:r>
            <a:endParaRPr lang="en-US" sz="900" dirty="0"/>
          </a:p>
        </p:txBody>
      </p:sp>
      <p:sp>
        <p:nvSpPr>
          <p:cNvPr id="54" name="Text 21"/>
          <p:cNvSpPr/>
          <p:nvPr/>
        </p:nvSpPr>
        <p:spPr>
          <a:xfrm>
            <a:off x="8001000" y="3810000"/>
            <a:ext cx="40233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Пространственный фокус</a:t>
            </a:r>
            <a:endParaRPr lang="en-US" sz="1200" dirty="0"/>
          </a:p>
        </p:txBody>
      </p:sp>
      <p:sp>
        <p:nvSpPr>
          <p:cNvPr id="55" name="Text 22"/>
          <p:cNvSpPr/>
          <p:nvPr/>
        </p:nvSpPr>
        <p:spPr>
          <a:xfrm>
            <a:off x="8001000" y="4038600"/>
            <a:ext cx="41910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Усиление блока на визуализацию и объем.</a:t>
            </a:r>
            <a:endParaRPr lang="en-US" sz="900" dirty="0"/>
          </a:p>
        </p:txBody>
      </p:sp>
      <p:sp>
        <p:nvSpPr>
          <p:cNvPr id="56" name="Text 23"/>
          <p:cNvSpPr/>
          <p:nvPr/>
        </p:nvSpPr>
        <p:spPr>
          <a:xfrm>
            <a:off x="7391400" y="4800600"/>
            <a:ext cx="40767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ПРОФИЛЬ ОЛИМПИАД</a:t>
            </a:r>
            <a:endParaRPr lang="en-US" sz="900" dirty="0"/>
          </a:p>
        </p:txBody>
      </p:sp>
      <p:sp>
        <p:nvSpPr>
          <p:cNvPr id="57" name="Text 24"/>
          <p:cNvSpPr/>
          <p:nvPr/>
        </p:nvSpPr>
        <p:spPr>
          <a:xfrm>
            <a:off x="7391400" y="5067300"/>
            <a:ext cx="3360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логику (СПб)</a:t>
            </a:r>
            <a:endParaRPr lang="en-US" sz="1050" dirty="0"/>
          </a:p>
        </p:txBody>
      </p:sp>
      <p:sp>
        <p:nvSpPr>
          <p:cNvPr id="58" name="Text 25"/>
          <p:cNvSpPr/>
          <p:nvPr/>
        </p:nvSpPr>
        <p:spPr>
          <a:xfrm>
            <a:off x="10753725" y="5029200"/>
            <a:ext cx="1438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34–37%</a:t>
            </a:r>
            <a:endParaRPr lang="en-US" sz="1350" dirty="0"/>
          </a:p>
        </p:txBody>
      </p:sp>
      <p:sp>
        <p:nvSpPr>
          <p:cNvPr id="59" name="Text 26"/>
          <p:cNvSpPr/>
          <p:nvPr/>
        </p:nvSpPr>
        <p:spPr>
          <a:xfrm>
            <a:off x="571500" y="6324600"/>
            <a:ext cx="76809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Классификация на основе анализа 420+ олимпиадных задач</a:t>
            </a:r>
            <a:endParaRPr lang="en-US" sz="900" dirty="0"/>
          </a:p>
        </p:txBody>
      </p:sp>
      <p:sp>
        <p:nvSpPr>
          <p:cNvPr id="60" name="Text 27"/>
          <p:cNvSpPr/>
          <p:nvPr/>
        </p:nvSpPr>
        <p:spPr>
          <a:xfrm>
            <a:off x="10001250" y="6324600"/>
            <a:ext cx="960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</a:t>
            </a:r>
            <a:endParaRPr lang="en-US" sz="900" dirty="0"/>
          </a:p>
        </p:txBody>
      </p:sp>
      <p:sp>
        <p:nvSpPr>
          <p:cNvPr id="61" name="Text 28"/>
          <p:cNvSpPr/>
          <p:nvPr/>
        </p:nvSpPr>
        <p:spPr>
          <a:xfrm>
            <a:off x="10696575" y="6324600"/>
            <a:ext cx="96012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ПсковГУ</a:t>
            </a:r>
            <a:endParaRPr lang="en-US" sz="900" dirty="0"/>
          </a:p>
        </p:txBody>
      </p:sp>
      <p:sp>
        <p:nvSpPr>
          <p:cNvPr id="62" name="Text 29"/>
          <p:cNvSpPr/>
          <p:nvPr/>
        </p:nvSpPr>
        <p:spPr>
          <a:xfrm>
            <a:off x="11344275" y="6324600"/>
            <a:ext cx="8477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"/>
            <a:ext cx="76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283494"/>
            <a:ext cx="9525000" cy="304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825" y="4350544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5" y="4350544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26794"/>
            <a:ext cx="2647950" cy="11287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600" y="4998244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1850" y="4826794"/>
            <a:ext cx="2647950" cy="11287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4998244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4826794"/>
            <a:ext cx="2647950" cy="112871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5350" y="4998244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72550" y="4826794"/>
            <a:ext cx="2647950" cy="112871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15700" y="4998244"/>
            <a:ext cx="1524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876300" y="381000"/>
            <a:ext cx="11315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kern="0" spc="-4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МЕТОДИЧЕСКИЙ КОНТИНУУМ «НАРРАТИВ — ПРОБЛЕМА»</a:t>
            </a:r>
            <a:endParaRPr lang="en-US" sz="2250" dirty="0"/>
          </a:p>
        </p:txBody>
      </p:sp>
      <p:sp>
        <p:nvSpPr>
          <p:cNvPr id="16" name="Text 1"/>
          <p:cNvSpPr/>
          <p:nvPr/>
        </p:nvSpPr>
        <p:spPr>
          <a:xfrm>
            <a:off x="876300" y="723900"/>
            <a:ext cx="87096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Динамика перехода в обучении (1–4 классы)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3400425" y="4331494"/>
            <a:ext cx="4320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НАРРАТИВНЫЙ ПОДХОД (БРУНЕР)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6276975" y="4331494"/>
            <a:ext cx="4800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ПРОБЛЕМНОЕ ОБУЧЕНИЕ (МАТЮШКИН)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723900" y="4979194"/>
            <a:ext cx="1226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КЛАСС</a:t>
            </a:r>
            <a:endParaRPr lang="en-US" sz="1050" dirty="0"/>
          </a:p>
        </p:txBody>
      </p:sp>
      <p:sp>
        <p:nvSpPr>
          <p:cNvPr id="20" name="Text 5"/>
          <p:cNvSpPr/>
          <p:nvPr/>
        </p:nvSpPr>
        <p:spPr>
          <a:xfrm>
            <a:off x="723900" y="5245894"/>
            <a:ext cx="234315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Нарратив.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Все задачи встроены в сказочные сюжеты. Проблемный элемент скрыт за фабулой.</a:t>
            </a:r>
            <a:endParaRPr lang="en-US" sz="900" dirty="0"/>
          </a:p>
        </p:txBody>
      </p:sp>
      <p:sp>
        <p:nvSpPr>
          <p:cNvPr id="21" name="Text 6"/>
          <p:cNvSpPr/>
          <p:nvPr/>
        </p:nvSpPr>
        <p:spPr>
          <a:xfrm>
            <a:off x="3524250" y="4979194"/>
            <a:ext cx="1226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КЛАСС</a:t>
            </a:r>
            <a:endParaRPr lang="en-US" sz="1050" dirty="0"/>
          </a:p>
        </p:txBody>
      </p:sp>
      <p:sp>
        <p:nvSpPr>
          <p:cNvPr id="22" name="Text 7"/>
          <p:cNvSpPr/>
          <p:nvPr/>
        </p:nvSpPr>
        <p:spPr>
          <a:xfrm>
            <a:off x="3524250" y="5245894"/>
            <a:ext cx="234315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~85% Нарратив.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Появление «нарративных разрывов» — сюжет требует нового способа действия.</a:t>
            </a:r>
            <a:endParaRPr lang="en-US" sz="900" dirty="0"/>
          </a:p>
        </p:txBody>
      </p:sp>
      <p:sp>
        <p:nvSpPr>
          <p:cNvPr id="23" name="Text 8"/>
          <p:cNvSpPr/>
          <p:nvPr/>
        </p:nvSpPr>
        <p:spPr>
          <a:xfrm>
            <a:off x="6324600" y="4979194"/>
            <a:ext cx="1226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КЛАСС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6324600" y="5245894"/>
            <a:ext cx="234315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~85% Проблема.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Сюжет — лишь рамка. Акцент на интеллектуальном конфликте и поиске стратегии.</a:t>
            </a:r>
            <a:endParaRPr lang="en-US" sz="900" dirty="0"/>
          </a:p>
        </p:txBody>
      </p:sp>
      <p:sp>
        <p:nvSpPr>
          <p:cNvPr id="25" name="Text 10"/>
          <p:cNvSpPr/>
          <p:nvPr/>
        </p:nvSpPr>
        <p:spPr>
          <a:xfrm>
            <a:off x="9124950" y="4979194"/>
            <a:ext cx="1226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КЛАСС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9124950" y="5245894"/>
            <a:ext cx="234315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Проблема.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Отказ от сюжетной оболочки. Чистый математический поиск и доказательство.</a:t>
            </a:r>
            <a:endParaRPr lang="en-US" sz="900" dirty="0"/>
          </a:p>
        </p:txBody>
      </p:sp>
      <p:sp>
        <p:nvSpPr>
          <p:cNvPr id="27" name="Text 12"/>
          <p:cNvSpPr/>
          <p:nvPr/>
        </p:nvSpPr>
        <p:spPr>
          <a:xfrm>
            <a:off x="571500" y="6324600"/>
            <a:ext cx="10149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Обоснование континуума: снижение когнитивной нагрузки и рост вовлеченности</a:t>
            </a:r>
            <a:endParaRPr lang="en-US" sz="900" dirty="0"/>
          </a:p>
        </p:txBody>
      </p:sp>
      <p:sp>
        <p:nvSpPr>
          <p:cNvPr id="28" name="Text 13"/>
          <p:cNvSpPr/>
          <p:nvPr/>
        </p:nvSpPr>
        <p:spPr>
          <a:xfrm>
            <a:off x="8839200" y="6324600"/>
            <a:ext cx="33528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Мастерская математического мышления</a:t>
            </a:r>
            <a:endParaRPr lang="en-US" sz="900" dirty="0"/>
          </a:p>
        </p:txBody>
      </p:sp>
      <p:sp>
        <p:nvSpPr>
          <p:cNvPr id="29" name="Text 14"/>
          <p:cNvSpPr/>
          <p:nvPr/>
        </p:nvSpPr>
        <p:spPr>
          <a:xfrm>
            <a:off x="11344275" y="6324600"/>
            <a:ext cx="8477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0063"/>
            <a:ext cx="762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95425"/>
            <a:ext cx="21907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52625"/>
            <a:ext cx="1935510" cy="876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5110" y="2330053"/>
            <a:ext cx="952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2760" y="1952625"/>
            <a:ext cx="1935510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0670" y="2330053"/>
            <a:ext cx="952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8320" y="1952625"/>
            <a:ext cx="1935510" cy="876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6229" y="2330053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3879" y="2047875"/>
            <a:ext cx="193551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1789" y="2330053"/>
            <a:ext cx="952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9439" y="2047875"/>
            <a:ext cx="193551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552825"/>
            <a:ext cx="5410200" cy="250507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3243263"/>
            <a:ext cx="54102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480941"/>
            <a:ext cx="182166" cy="1619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4310063"/>
            <a:ext cx="5410200" cy="914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547592"/>
            <a:ext cx="121741" cy="16222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5376863"/>
            <a:ext cx="5410200" cy="685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62000" y="457200"/>
            <a:ext cx="11430000" cy="428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КУРСА «МАСТЕРСКАЯ МЫШЛЕНИЯ»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762000" y="885825"/>
            <a:ext cx="914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Методический дизайн и континуум обучения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752475" y="1457325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по модели ADDIE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609600" y="2105025"/>
            <a:ext cx="16307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900" dirty="0"/>
          </a:p>
        </p:txBody>
      </p:sp>
      <p:sp>
        <p:nvSpPr>
          <p:cNvPr id="24" name="Text 4"/>
          <p:cNvSpPr/>
          <p:nvPr/>
        </p:nvSpPr>
        <p:spPr>
          <a:xfrm>
            <a:off x="609600" y="2295525"/>
            <a:ext cx="16307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олимпиад и ФГОС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2945160" y="2105025"/>
            <a:ext cx="16307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00" dirty="0"/>
          </a:p>
        </p:txBody>
      </p:sp>
      <p:sp>
        <p:nvSpPr>
          <p:cNvPr id="26" name="Text 6"/>
          <p:cNvSpPr/>
          <p:nvPr/>
        </p:nvSpPr>
        <p:spPr>
          <a:xfrm>
            <a:off x="2945160" y="2295525"/>
            <a:ext cx="16307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континуума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5280720" y="2105025"/>
            <a:ext cx="16307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28" name="Text 8"/>
          <p:cNvSpPr/>
          <p:nvPr/>
        </p:nvSpPr>
        <p:spPr>
          <a:xfrm>
            <a:off x="5280720" y="2295525"/>
            <a:ext cx="163071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Банк 312 задач и модули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7616279" y="2200275"/>
            <a:ext cx="16307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0" name="Text 10"/>
          <p:cNvSpPr/>
          <p:nvPr/>
        </p:nvSpPr>
        <p:spPr>
          <a:xfrm>
            <a:off x="7616279" y="2390775"/>
            <a:ext cx="16307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Апробация (70 уч.)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9951839" y="2200275"/>
            <a:ext cx="163071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2" name="Text 12"/>
          <p:cNvSpPr/>
          <p:nvPr/>
        </p:nvSpPr>
        <p:spPr>
          <a:xfrm>
            <a:off x="9951839" y="2390775"/>
            <a:ext cx="16307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Диагностика ДТМ/КПН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457200" y="3209925"/>
            <a:ext cx="8305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Методический континуум (1–4 классы)</a:t>
            </a: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6811566" y="3395663"/>
            <a:ext cx="53804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Нарративный подход (1–2 классы)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811566" y="3624263"/>
            <a:ext cx="477083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Снижение когнитивной нагрузки через сюжет и персонажей. Мотивационное «топливо» для решения.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6751141" y="4462463"/>
            <a:ext cx="54408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Проблемный подход (3–4 классы)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751141" y="4691063"/>
            <a:ext cx="483125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Выход в чистый проблемный поиск («нарративный разрыв»). Работа с интеллектуальным конфликтом.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6477000" y="5529263"/>
            <a:ext cx="5105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«Плавный переход от сказочного сюжета к строгой математической проблеме по мере взросления ребенка».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457200" y="6248400"/>
            <a:ext cx="4526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ADDIE И КОНТИНУУМ ОБУЧЕНИЯ</a:t>
            </a:r>
            <a:endParaRPr lang="en-US" sz="900" dirty="0"/>
          </a:p>
        </p:txBody>
      </p:sp>
      <p:sp>
        <p:nvSpPr>
          <p:cNvPr id="40" name="Text 20"/>
          <p:cNvSpPr/>
          <p:nvPr/>
        </p:nvSpPr>
        <p:spPr>
          <a:xfrm>
            <a:off x="10330755" y="6248400"/>
            <a:ext cx="186124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kern="0" spc="72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1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88" y="339926"/>
            <a:ext cx="67985" cy="33992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88" y="988706"/>
            <a:ext cx="212454" cy="1641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888" y="1325710"/>
            <a:ext cx="2690990" cy="4758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866" y="1427688"/>
            <a:ext cx="271941" cy="27194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6848" y="1325710"/>
            <a:ext cx="2691122" cy="47589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8826" y="1427688"/>
            <a:ext cx="271940" cy="27194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3941" y="1325710"/>
            <a:ext cx="2690989" cy="47589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5919" y="1427688"/>
            <a:ext cx="271940" cy="27194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0901" y="1325710"/>
            <a:ext cx="2691122" cy="47589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2879" y="1427688"/>
            <a:ext cx="271940" cy="27194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888" y="1937576"/>
            <a:ext cx="2690990" cy="47589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1866" y="2039554"/>
            <a:ext cx="271941" cy="2719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6848" y="1937576"/>
            <a:ext cx="2691122" cy="47589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38826" y="2039554"/>
            <a:ext cx="271940" cy="27194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63941" y="1937576"/>
            <a:ext cx="2690989" cy="47589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5919" y="2039554"/>
            <a:ext cx="271940" cy="27194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90901" y="1937576"/>
            <a:ext cx="2691122" cy="475896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92879" y="2039554"/>
            <a:ext cx="271940" cy="2719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888" y="2788718"/>
            <a:ext cx="186959" cy="16717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09888" y="3127316"/>
            <a:ext cx="2640000" cy="2175524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93555" y="3297279"/>
            <a:ext cx="586372" cy="20395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767473" y="4894929"/>
            <a:ext cx="212453" cy="237948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53845" y="3127316"/>
            <a:ext cx="2640134" cy="2175524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27168" y="3297279"/>
            <a:ext cx="696848" cy="20395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1562" y="4894929"/>
            <a:ext cx="212454" cy="237948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97933" y="3127316"/>
            <a:ext cx="2640001" cy="2175524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54127" y="3297279"/>
            <a:ext cx="713844" cy="20395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0023" y="4894929"/>
            <a:ext cx="237948" cy="237948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041889" y="3127316"/>
            <a:ext cx="2640134" cy="2175524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25689" y="3297279"/>
            <a:ext cx="586371" cy="203955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342097" y="4894929"/>
            <a:ext cx="169963" cy="237948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9888" y="6246134"/>
            <a:ext cx="11172134" cy="27194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747836" y="356922"/>
            <a:ext cx="9224010" cy="3059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9"/>
              </a:lnSpc>
              <a:buNone/>
            </a:pPr>
            <a:r>
              <a:rPr lang="en-US" sz="2250" b="1" kern="0" spc="-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И МОДУЛИ КУРСА</a:t>
            </a:r>
            <a:endParaRPr lang="en-US" sz="2250" dirty="0"/>
          </a:p>
        </p:txBody>
      </p:sp>
      <p:sp>
        <p:nvSpPr>
          <p:cNvPr id="36" name="Text 1"/>
          <p:cNvSpPr/>
          <p:nvPr/>
        </p:nvSpPr>
        <p:spPr>
          <a:xfrm>
            <a:off x="824320" y="951792"/>
            <a:ext cx="11172134" cy="2379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350" b="1" kern="0" spc="12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ТЕМАТИЧЕСКИХ МОДУЛЕЙ</a:t>
            </a:r>
            <a:endParaRPr lang="en-US" sz="1350" dirty="0"/>
          </a:p>
        </p:txBody>
      </p:sp>
      <p:sp>
        <p:nvSpPr>
          <p:cNvPr id="37" name="Text 2"/>
          <p:cNvSpPr/>
          <p:nvPr/>
        </p:nvSpPr>
        <p:spPr>
          <a:xfrm>
            <a:off x="658606" y="1427688"/>
            <a:ext cx="409956" cy="271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М0</a:t>
            </a:r>
            <a:endParaRPr lang="en-US" sz="900" dirty="0"/>
          </a:p>
        </p:txBody>
      </p:sp>
      <p:sp>
        <p:nvSpPr>
          <p:cNvPr id="38" name="Text 3"/>
          <p:cNvSpPr/>
          <p:nvPr/>
        </p:nvSpPr>
        <p:spPr>
          <a:xfrm>
            <a:off x="985784" y="1478677"/>
            <a:ext cx="2510986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Вводный модуль</a:t>
            </a:r>
            <a:endParaRPr lang="en-US" sz="1050" dirty="0"/>
          </a:p>
        </p:txBody>
      </p:sp>
      <p:sp>
        <p:nvSpPr>
          <p:cNvPr id="39" name="Text 4"/>
          <p:cNvSpPr/>
          <p:nvPr/>
        </p:nvSpPr>
        <p:spPr>
          <a:xfrm>
            <a:off x="3498313" y="1427688"/>
            <a:ext cx="409956" cy="271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М1</a:t>
            </a:r>
            <a:endParaRPr lang="en-US" sz="900" dirty="0"/>
          </a:p>
        </p:txBody>
      </p:sp>
      <p:sp>
        <p:nvSpPr>
          <p:cNvPr id="40" name="Text 5"/>
          <p:cNvSpPr/>
          <p:nvPr/>
        </p:nvSpPr>
        <p:spPr>
          <a:xfrm>
            <a:off x="3812744" y="1478677"/>
            <a:ext cx="3228410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и алгоритмы</a:t>
            </a:r>
            <a:endParaRPr lang="en-US" sz="1050" dirty="0"/>
          </a:p>
        </p:txBody>
      </p:sp>
      <p:sp>
        <p:nvSpPr>
          <p:cNvPr id="41" name="Text 6"/>
          <p:cNvSpPr/>
          <p:nvPr/>
        </p:nvSpPr>
        <p:spPr>
          <a:xfrm>
            <a:off x="6316907" y="1427688"/>
            <a:ext cx="409956" cy="271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М2</a:t>
            </a:r>
            <a:endParaRPr lang="en-US" sz="900" dirty="0"/>
          </a:p>
        </p:txBody>
      </p:sp>
      <p:sp>
        <p:nvSpPr>
          <p:cNvPr id="42" name="Text 7"/>
          <p:cNvSpPr/>
          <p:nvPr/>
        </p:nvSpPr>
        <p:spPr>
          <a:xfrm>
            <a:off x="6639837" y="1478677"/>
            <a:ext cx="2331630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Комбинаторика</a:t>
            </a:r>
            <a:endParaRPr lang="en-US" sz="1050" dirty="0"/>
          </a:p>
        </p:txBody>
      </p:sp>
      <p:sp>
        <p:nvSpPr>
          <p:cNvPr id="43" name="Text 8"/>
          <p:cNvSpPr/>
          <p:nvPr/>
        </p:nvSpPr>
        <p:spPr>
          <a:xfrm>
            <a:off x="9139618" y="1427688"/>
            <a:ext cx="409956" cy="2719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М3</a:t>
            </a:r>
            <a:endParaRPr lang="en-US" sz="900" dirty="0"/>
          </a:p>
        </p:txBody>
      </p:sp>
      <p:sp>
        <p:nvSpPr>
          <p:cNvPr id="44" name="Text 9"/>
          <p:cNvSpPr/>
          <p:nvPr/>
        </p:nvSpPr>
        <p:spPr>
          <a:xfrm>
            <a:off x="9466797" y="1478677"/>
            <a:ext cx="2725203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Геометрия и пространство</a:t>
            </a:r>
            <a:endParaRPr lang="en-US" sz="1050" dirty="0"/>
          </a:p>
        </p:txBody>
      </p:sp>
      <p:sp>
        <p:nvSpPr>
          <p:cNvPr id="45" name="Text 10"/>
          <p:cNvSpPr/>
          <p:nvPr/>
        </p:nvSpPr>
        <p:spPr>
          <a:xfrm>
            <a:off x="658606" y="2039554"/>
            <a:ext cx="409956" cy="2719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М4</a:t>
            </a:r>
            <a:endParaRPr lang="en-US" sz="900" dirty="0"/>
          </a:p>
        </p:txBody>
      </p:sp>
      <p:sp>
        <p:nvSpPr>
          <p:cNvPr id="46" name="Text 11"/>
          <p:cNvSpPr/>
          <p:nvPr/>
        </p:nvSpPr>
        <p:spPr>
          <a:xfrm>
            <a:off x="985784" y="2090543"/>
            <a:ext cx="3228410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Арифметика сюжетов</a:t>
            </a:r>
            <a:endParaRPr lang="en-US" sz="1050" dirty="0"/>
          </a:p>
        </p:txBody>
      </p:sp>
      <p:sp>
        <p:nvSpPr>
          <p:cNvPr id="47" name="Text 12"/>
          <p:cNvSpPr/>
          <p:nvPr/>
        </p:nvSpPr>
        <p:spPr>
          <a:xfrm>
            <a:off x="3489815" y="2039554"/>
            <a:ext cx="409956" cy="2719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М5</a:t>
            </a:r>
            <a:endParaRPr lang="en-US" sz="900" dirty="0"/>
          </a:p>
        </p:txBody>
      </p:sp>
      <p:sp>
        <p:nvSpPr>
          <p:cNvPr id="48" name="Text 13"/>
          <p:cNvSpPr/>
          <p:nvPr/>
        </p:nvSpPr>
        <p:spPr>
          <a:xfrm>
            <a:off x="3812744" y="2090543"/>
            <a:ext cx="2869698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Стратегии и игры</a:t>
            </a:r>
            <a:endParaRPr lang="en-US" sz="1050" dirty="0"/>
          </a:p>
        </p:txBody>
      </p:sp>
      <p:sp>
        <p:nvSpPr>
          <p:cNvPr id="49" name="Text 14"/>
          <p:cNvSpPr/>
          <p:nvPr/>
        </p:nvSpPr>
        <p:spPr>
          <a:xfrm>
            <a:off x="6312658" y="2039554"/>
            <a:ext cx="409956" cy="2719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М6</a:t>
            </a:r>
            <a:endParaRPr lang="en-US" sz="900" dirty="0"/>
          </a:p>
        </p:txBody>
      </p:sp>
      <p:sp>
        <p:nvSpPr>
          <p:cNvPr id="50" name="Text 15"/>
          <p:cNvSpPr/>
          <p:nvPr/>
        </p:nvSpPr>
        <p:spPr>
          <a:xfrm>
            <a:off x="6639837" y="2090543"/>
            <a:ext cx="1793561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Инварианты</a:t>
            </a:r>
            <a:endParaRPr lang="en-US" sz="1050" dirty="0"/>
          </a:p>
        </p:txBody>
      </p:sp>
      <p:sp>
        <p:nvSpPr>
          <p:cNvPr id="51" name="Text 16"/>
          <p:cNvSpPr/>
          <p:nvPr/>
        </p:nvSpPr>
        <p:spPr>
          <a:xfrm>
            <a:off x="9143867" y="2039554"/>
            <a:ext cx="409956" cy="2719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М7</a:t>
            </a:r>
            <a:endParaRPr lang="en-US" sz="900" dirty="0"/>
          </a:p>
        </p:txBody>
      </p:sp>
      <p:sp>
        <p:nvSpPr>
          <p:cNvPr id="52" name="Text 17"/>
          <p:cNvSpPr/>
          <p:nvPr/>
        </p:nvSpPr>
        <p:spPr>
          <a:xfrm>
            <a:off x="9466797" y="2090543"/>
            <a:ext cx="1972917" cy="169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38"/>
              </a:lnSpc>
              <a:buNone/>
            </a:pPr>
            <a:r>
              <a:rPr lang="en-US" sz="10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Своя задача</a:t>
            </a:r>
            <a:endParaRPr lang="en-US" sz="1050" dirty="0"/>
          </a:p>
        </p:txBody>
      </p:sp>
      <p:sp>
        <p:nvSpPr>
          <p:cNvPr id="53" name="Text 18"/>
          <p:cNvSpPr/>
          <p:nvPr/>
        </p:nvSpPr>
        <p:spPr>
          <a:xfrm>
            <a:off x="798825" y="2753398"/>
            <a:ext cx="11172134" cy="2379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350" b="1" kern="0" spc="12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ЗАНЯТИЯ (4 ФАЗЫ)</a:t>
            </a:r>
            <a:endParaRPr lang="en-US" sz="1350" dirty="0"/>
          </a:p>
        </p:txBody>
      </p:sp>
      <p:sp>
        <p:nvSpPr>
          <p:cNvPr id="54" name="Text 19"/>
          <p:cNvSpPr/>
          <p:nvPr/>
        </p:nvSpPr>
        <p:spPr>
          <a:xfrm>
            <a:off x="679851" y="3297279"/>
            <a:ext cx="1024890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ФАЗА 1</a:t>
            </a:r>
            <a:endParaRPr lang="en-US" sz="900" dirty="0"/>
          </a:p>
        </p:txBody>
      </p:sp>
      <p:sp>
        <p:nvSpPr>
          <p:cNvPr id="55" name="Text 20"/>
          <p:cNvSpPr/>
          <p:nvPr/>
        </p:nvSpPr>
        <p:spPr>
          <a:xfrm>
            <a:off x="2461540" y="3297279"/>
            <a:ext cx="948147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мин</a:t>
            </a:r>
            <a:endParaRPr lang="en-US" sz="900" dirty="0"/>
          </a:p>
        </p:txBody>
      </p:sp>
      <p:sp>
        <p:nvSpPr>
          <p:cNvPr id="56" name="Text 21"/>
          <p:cNvSpPr/>
          <p:nvPr/>
        </p:nvSpPr>
        <p:spPr>
          <a:xfrm>
            <a:off x="679851" y="3603212"/>
            <a:ext cx="2300075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 в тему</a:t>
            </a:r>
            <a:endParaRPr lang="en-US" sz="1200" dirty="0"/>
          </a:p>
        </p:txBody>
      </p:sp>
      <p:sp>
        <p:nvSpPr>
          <p:cNvPr id="57" name="Text 22"/>
          <p:cNvSpPr/>
          <p:nvPr/>
        </p:nvSpPr>
        <p:spPr>
          <a:xfrm>
            <a:off x="679851" y="3875152"/>
            <a:ext cx="2300075" cy="3715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Нарративный или проблемный зачин. Активация опыта.</a:t>
            </a:r>
            <a:endParaRPr lang="en-US" sz="900" dirty="0"/>
          </a:p>
        </p:txBody>
      </p:sp>
      <p:sp>
        <p:nvSpPr>
          <p:cNvPr id="58" name="Text 23"/>
          <p:cNvSpPr/>
          <p:nvPr/>
        </p:nvSpPr>
        <p:spPr>
          <a:xfrm>
            <a:off x="3523807" y="3297279"/>
            <a:ext cx="1024890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ФАЗА 2</a:t>
            </a:r>
            <a:endParaRPr lang="en-US" sz="900" dirty="0"/>
          </a:p>
        </p:txBody>
      </p:sp>
      <p:sp>
        <p:nvSpPr>
          <p:cNvPr id="59" name="Text 24"/>
          <p:cNvSpPr/>
          <p:nvPr/>
        </p:nvSpPr>
        <p:spPr>
          <a:xfrm>
            <a:off x="5195153" y="3297279"/>
            <a:ext cx="1401308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 мин</a:t>
            </a:r>
            <a:endParaRPr lang="en-US" sz="900" dirty="0"/>
          </a:p>
        </p:txBody>
      </p:sp>
      <p:sp>
        <p:nvSpPr>
          <p:cNvPr id="60" name="Text 25"/>
          <p:cNvSpPr/>
          <p:nvPr/>
        </p:nvSpPr>
        <p:spPr>
          <a:xfrm>
            <a:off x="3523807" y="3603212"/>
            <a:ext cx="2300208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 дня</a:t>
            </a:r>
            <a:endParaRPr lang="en-US" sz="1200" dirty="0"/>
          </a:p>
        </p:txBody>
      </p:sp>
      <p:sp>
        <p:nvSpPr>
          <p:cNvPr id="61" name="Text 26"/>
          <p:cNvSpPr/>
          <p:nvPr/>
        </p:nvSpPr>
        <p:spPr>
          <a:xfrm>
            <a:off x="3523807" y="3875152"/>
            <a:ext cx="2300208" cy="3715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Центральная задача. Трёхуровневая дифференциация. Карточки-маяки.</a:t>
            </a:r>
            <a:endParaRPr lang="en-US" sz="900" dirty="0"/>
          </a:p>
        </p:txBody>
      </p:sp>
      <p:sp>
        <p:nvSpPr>
          <p:cNvPr id="62" name="Text 27"/>
          <p:cNvSpPr/>
          <p:nvPr/>
        </p:nvSpPr>
        <p:spPr>
          <a:xfrm>
            <a:off x="6367896" y="3297279"/>
            <a:ext cx="1024890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ФАЗА 3</a:t>
            </a:r>
            <a:endParaRPr lang="en-US" sz="900" dirty="0"/>
          </a:p>
        </p:txBody>
      </p:sp>
      <p:sp>
        <p:nvSpPr>
          <p:cNvPr id="63" name="Text 28"/>
          <p:cNvSpPr/>
          <p:nvPr/>
        </p:nvSpPr>
        <p:spPr>
          <a:xfrm>
            <a:off x="8022113" y="3297279"/>
            <a:ext cx="1410647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15–20 мин</a:t>
            </a:r>
            <a:endParaRPr lang="en-US" sz="900" dirty="0"/>
          </a:p>
        </p:txBody>
      </p:sp>
      <p:sp>
        <p:nvSpPr>
          <p:cNvPr id="64" name="Text 29"/>
          <p:cNvSpPr/>
          <p:nvPr/>
        </p:nvSpPr>
        <p:spPr>
          <a:xfrm>
            <a:off x="6367896" y="3603212"/>
            <a:ext cx="3279642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Групповая работа</a:t>
            </a:r>
            <a:endParaRPr lang="en-US" sz="1200" dirty="0"/>
          </a:p>
        </p:txBody>
      </p:sp>
      <p:sp>
        <p:nvSpPr>
          <p:cNvPr id="65" name="Text 30"/>
          <p:cNvSpPr/>
          <p:nvPr/>
        </p:nvSpPr>
        <p:spPr>
          <a:xfrm>
            <a:off x="6367896" y="3875152"/>
            <a:ext cx="2300075" cy="3715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Малые группы (3–8 чел). Сигнальные карточки. Совместный поиск.</a:t>
            </a:r>
            <a:endParaRPr lang="en-US" sz="900" dirty="0"/>
          </a:p>
        </p:txBody>
      </p:sp>
      <p:sp>
        <p:nvSpPr>
          <p:cNvPr id="66" name="Text 31"/>
          <p:cNvSpPr/>
          <p:nvPr/>
        </p:nvSpPr>
        <p:spPr>
          <a:xfrm>
            <a:off x="9211852" y="3297279"/>
            <a:ext cx="1024890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ФАЗА 4</a:t>
            </a:r>
            <a:endParaRPr lang="en-US" sz="900" dirty="0"/>
          </a:p>
        </p:txBody>
      </p:sp>
      <p:sp>
        <p:nvSpPr>
          <p:cNvPr id="67" name="Text 32"/>
          <p:cNvSpPr/>
          <p:nvPr/>
        </p:nvSpPr>
        <p:spPr>
          <a:xfrm>
            <a:off x="10993673" y="3297279"/>
            <a:ext cx="948147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мин</a:t>
            </a:r>
            <a:endParaRPr lang="en-US" sz="900" dirty="0"/>
          </a:p>
        </p:txBody>
      </p:sp>
      <p:sp>
        <p:nvSpPr>
          <p:cNvPr id="68" name="Text 33"/>
          <p:cNvSpPr/>
          <p:nvPr/>
        </p:nvSpPr>
        <p:spPr>
          <a:xfrm>
            <a:off x="9211852" y="3603212"/>
            <a:ext cx="2300208" cy="203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06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</a:t>
            </a:r>
            <a:endParaRPr lang="en-US" sz="1200" dirty="0"/>
          </a:p>
        </p:txBody>
      </p:sp>
      <p:sp>
        <p:nvSpPr>
          <p:cNvPr id="69" name="Text 34"/>
          <p:cNvSpPr/>
          <p:nvPr/>
        </p:nvSpPr>
        <p:spPr>
          <a:xfrm>
            <a:off x="9211852" y="3875152"/>
            <a:ext cx="2300208" cy="3715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63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Фиксация способа решения. Портфолио ученика.</a:t>
            </a:r>
            <a:endParaRPr lang="en-US" sz="900" dirty="0"/>
          </a:p>
        </p:txBody>
      </p:sp>
      <p:sp>
        <p:nvSpPr>
          <p:cNvPr id="70" name="Text 35"/>
          <p:cNvSpPr/>
          <p:nvPr/>
        </p:nvSpPr>
        <p:spPr>
          <a:xfrm>
            <a:off x="509888" y="6382104"/>
            <a:ext cx="6456807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 «Мастерская математического мышления»</a:t>
            </a:r>
            <a:endParaRPr lang="en-US" sz="900" dirty="0"/>
          </a:p>
        </p:txBody>
      </p:sp>
      <p:sp>
        <p:nvSpPr>
          <p:cNvPr id="71" name="Text 36"/>
          <p:cNvSpPr/>
          <p:nvPr/>
        </p:nvSpPr>
        <p:spPr>
          <a:xfrm>
            <a:off x="10135362" y="6382104"/>
            <a:ext cx="2056638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/ ПсковГУ</a:t>
            </a:r>
            <a:endParaRPr lang="en-US" sz="900" dirty="0"/>
          </a:p>
        </p:txBody>
      </p:sp>
      <p:sp>
        <p:nvSpPr>
          <p:cNvPr id="72" name="Text 37"/>
          <p:cNvSpPr/>
          <p:nvPr/>
        </p:nvSpPr>
        <p:spPr>
          <a:xfrm>
            <a:off x="11410083" y="6382104"/>
            <a:ext cx="781917" cy="135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8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69" y="332913"/>
            <a:ext cx="66582" cy="3329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69" y="932155"/>
            <a:ext cx="5496699" cy="192127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16" y="1198746"/>
            <a:ext cx="332913" cy="3329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52" y="1283534"/>
            <a:ext cx="124842" cy="16320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116" y="1988113"/>
            <a:ext cx="99874" cy="11977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16" y="2221151"/>
            <a:ext cx="99874" cy="11977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5816" y="932155"/>
            <a:ext cx="5496699" cy="192127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5564" y="1198746"/>
            <a:ext cx="332912" cy="33291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6308" y="1283794"/>
            <a:ext cx="191424" cy="16268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564" y="1988113"/>
            <a:ext cx="99874" cy="11977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564" y="2221151"/>
            <a:ext cx="99874" cy="11977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369" y="3053173"/>
            <a:ext cx="5496699" cy="192127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116" y="3319763"/>
            <a:ext cx="332913" cy="33291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183" y="3403641"/>
            <a:ext cx="174779" cy="165026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16" y="4109130"/>
            <a:ext cx="99874" cy="11977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16" y="4342169"/>
            <a:ext cx="99874" cy="11977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5816" y="3053173"/>
            <a:ext cx="5496699" cy="192127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5564" y="3319763"/>
            <a:ext cx="332912" cy="33291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4630" y="3403641"/>
            <a:ext cx="174779" cy="165026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9369" y="5240773"/>
            <a:ext cx="11193147" cy="100836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2458" y="5640268"/>
            <a:ext cx="266330" cy="26633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9509" y="5640268"/>
            <a:ext cx="266330" cy="26633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29233" y="5640268"/>
            <a:ext cx="266330" cy="26633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48832" y="5640268"/>
            <a:ext cx="266330" cy="26633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39427" y="5640268"/>
            <a:ext cx="266330" cy="26633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732408" y="332913"/>
            <a:ext cx="11459592" cy="3329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21"/>
              </a:lnSpc>
              <a:buNone/>
            </a:pPr>
            <a:r>
              <a:rPr lang="en-US" sz="2700" b="1" kern="0" spc="-62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Диагностический инструментарий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1165194" y="1131903"/>
            <a:ext cx="1509551" cy="238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ДТМ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165194" y="1428273"/>
            <a:ext cx="2825489" cy="133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9"/>
              </a:lnSpc>
              <a:buNone/>
            </a:pPr>
            <a:r>
              <a:rPr lang="en-US" sz="900" b="1" kern="0" spc="4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ПРЕДМЕТНЫЙ УРОВЕНЬ</a:t>
            </a:r>
            <a:endParaRPr lang="en-US" sz="900" dirty="0"/>
          </a:p>
        </p:txBody>
      </p:sp>
      <p:sp>
        <p:nvSpPr>
          <p:cNvPr id="32" name="Text 3"/>
          <p:cNvSpPr/>
          <p:nvPr/>
        </p:nvSpPr>
        <p:spPr>
          <a:xfrm>
            <a:off x="699116" y="1698505"/>
            <a:ext cx="7142216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11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Авторский диагностический тест мышления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865573" y="1964835"/>
            <a:ext cx="5097204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Максимум: 15 баллов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65573" y="2197874"/>
            <a:ext cx="7325350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Шкала: начальный / базовый / продвинутый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6861641" y="1131903"/>
            <a:ext cx="1831929" cy="238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КПН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6861641" y="1428273"/>
            <a:ext cx="3453376" cy="133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9"/>
              </a:lnSpc>
              <a:buNone/>
            </a:pPr>
            <a:r>
              <a:rPr lang="en-US" sz="900" b="1" kern="0" spc="4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ДЕЯТЕЛЬНОСТНЫЙ УРОВЕНЬ</a:t>
            </a:r>
            <a:endParaRPr lang="en-US" sz="900" dirty="0"/>
          </a:p>
        </p:txBody>
      </p:sp>
      <p:sp>
        <p:nvSpPr>
          <p:cNvPr id="37" name="Text 8"/>
          <p:cNvSpPr/>
          <p:nvPr/>
        </p:nvSpPr>
        <p:spPr>
          <a:xfrm>
            <a:off x="6395564" y="1698505"/>
            <a:ext cx="5796436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11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педагогического наблюдения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6562020" y="1964835"/>
            <a:ext cx="5629980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параметров оценки (К1–К5 + доп.)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6562020" y="2197874"/>
            <a:ext cx="5629980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Шкала интенсивности: 1–3 балла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1165194" y="3252920"/>
            <a:ext cx="1809562" cy="2381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ОПМ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1165194" y="3549291"/>
            <a:ext cx="3296404" cy="133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9"/>
              </a:lnSpc>
              <a:buNone/>
            </a:pPr>
            <a:r>
              <a:rPr lang="en-US" sz="900" b="1" kern="0" spc="4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МОТИВАЦИОННЫЙ УРОВЕНЬ</a:t>
            </a:r>
            <a:endParaRPr lang="en-US" sz="900" dirty="0"/>
          </a:p>
        </p:txBody>
      </p:sp>
      <p:sp>
        <p:nvSpPr>
          <p:cNvPr id="42" name="Text 13"/>
          <p:cNvSpPr/>
          <p:nvPr/>
        </p:nvSpPr>
        <p:spPr>
          <a:xfrm>
            <a:off x="699116" y="3819522"/>
            <a:ext cx="6043414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11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Опросник познавательной мотивации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865573" y="4085852"/>
            <a:ext cx="6043414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Адаптация методики Т.О. Гордеевой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865573" y="4318891"/>
            <a:ext cx="7325350" cy="166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311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Субшкалы: внутренняя мотивация и интерес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6861641" y="3252920"/>
            <a:ext cx="3662682" cy="2381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Финальное эссе</a:t>
            </a:r>
            <a:endParaRPr lang="en-US" sz="1500" dirty="0"/>
          </a:p>
        </p:txBody>
      </p:sp>
      <p:sp>
        <p:nvSpPr>
          <p:cNvPr id="46" name="Text 17"/>
          <p:cNvSpPr/>
          <p:nvPr/>
        </p:nvSpPr>
        <p:spPr>
          <a:xfrm>
            <a:off x="6861641" y="3549291"/>
            <a:ext cx="2668518" cy="133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9"/>
              </a:lnSpc>
              <a:buNone/>
            </a:pPr>
            <a:r>
              <a:rPr lang="en-US" sz="900" b="1" kern="0" spc="4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КАЧЕСТВЕННЫЙ СРЕЗ</a:t>
            </a:r>
            <a:endParaRPr lang="en-US" sz="900" dirty="0"/>
          </a:p>
        </p:txBody>
      </p:sp>
      <p:sp>
        <p:nvSpPr>
          <p:cNvPr id="49" name="Text 20"/>
          <p:cNvSpPr/>
          <p:nvPr/>
        </p:nvSpPr>
        <p:spPr>
          <a:xfrm>
            <a:off x="665825" y="5407229"/>
            <a:ext cx="10860234" cy="1331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49"/>
              </a:lnSpc>
              <a:buNone/>
            </a:pPr>
            <a:r>
              <a:rPr lang="en-US" sz="900" b="1" kern="0" spc="8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КОМПОНЕНТОВ МАТЕМАТИЧЕСКОГО МЫШЛЕНИЯ (К1–К5)</a:t>
            </a:r>
            <a:endParaRPr lang="en-US" sz="900" dirty="0"/>
          </a:p>
        </p:txBody>
      </p:sp>
      <p:sp>
        <p:nvSpPr>
          <p:cNvPr id="50" name="Text 21"/>
          <p:cNvSpPr/>
          <p:nvPr/>
        </p:nvSpPr>
        <p:spPr>
          <a:xfrm>
            <a:off x="1385749" y="5640268"/>
            <a:ext cx="627888" cy="266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35"/>
              </a:lnSpc>
              <a:buNone/>
            </a:pPr>
            <a:r>
              <a:rPr lang="en-US" sz="13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К1</a:t>
            </a:r>
            <a:endParaRPr lang="en-US" sz="1350" dirty="0"/>
          </a:p>
        </p:txBody>
      </p:sp>
      <p:sp>
        <p:nvSpPr>
          <p:cNvPr id="51" name="Text 22"/>
          <p:cNvSpPr/>
          <p:nvPr/>
        </p:nvSpPr>
        <p:spPr>
          <a:xfrm>
            <a:off x="798990" y="5939889"/>
            <a:ext cx="2616190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ЛОГИКО-АНАЛИТИЧЕСКИЙ</a:t>
            </a:r>
            <a:endParaRPr lang="en-US" sz="750" dirty="0"/>
          </a:p>
        </p:txBody>
      </p:sp>
      <p:sp>
        <p:nvSpPr>
          <p:cNvPr id="52" name="Text 23"/>
          <p:cNvSpPr/>
          <p:nvPr/>
        </p:nvSpPr>
        <p:spPr>
          <a:xfrm>
            <a:off x="3826154" y="5640268"/>
            <a:ext cx="627888" cy="266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35"/>
              </a:lnSpc>
              <a:buNone/>
            </a:pPr>
            <a:r>
              <a:rPr lang="en-US" sz="13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К2</a:t>
            </a:r>
            <a:endParaRPr lang="en-US" sz="1350" dirty="0"/>
          </a:p>
        </p:txBody>
      </p:sp>
      <p:sp>
        <p:nvSpPr>
          <p:cNvPr id="53" name="Text 24"/>
          <p:cNvSpPr/>
          <p:nvPr/>
        </p:nvSpPr>
        <p:spPr>
          <a:xfrm>
            <a:off x="3476596" y="5939889"/>
            <a:ext cx="1700523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КОМБИНАТОРНЫЙ</a:t>
            </a:r>
            <a:endParaRPr lang="en-US" sz="750" dirty="0"/>
          </a:p>
        </p:txBody>
      </p:sp>
      <p:sp>
        <p:nvSpPr>
          <p:cNvPr id="54" name="Text 25"/>
          <p:cNvSpPr/>
          <p:nvPr/>
        </p:nvSpPr>
        <p:spPr>
          <a:xfrm>
            <a:off x="6145879" y="5640268"/>
            <a:ext cx="627888" cy="266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35"/>
              </a:lnSpc>
              <a:buNone/>
            </a:pPr>
            <a:r>
              <a:rPr lang="en-US" sz="13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К3</a:t>
            </a:r>
            <a:endParaRPr lang="en-US" sz="1350" dirty="0"/>
          </a:p>
        </p:txBody>
      </p:sp>
      <p:sp>
        <p:nvSpPr>
          <p:cNvPr id="55" name="Text 26"/>
          <p:cNvSpPr/>
          <p:nvPr/>
        </p:nvSpPr>
        <p:spPr>
          <a:xfrm>
            <a:off x="5713093" y="5939889"/>
            <a:ext cx="2092952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ПРОСТРАНСТВЕННЫЙ</a:t>
            </a:r>
            <a:endParaRPr lang="en-US" sz="750" dirty="0"/>
          </a:p>
        </p:txBody>
      </p:sp>
      <p:sp>
        <p:nvSpPr>
          <p:cNvPr id="56" name="Text 27"/>
          <p:cNvSpPr/>
          <p:nvPr/>
        </p:nvSpPr>
        <p:spPr>
          <a:xfrm>
            <a:off x="8561316" y="5640268"/>
            <a:ext cx="627888" cy="266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35"/>
              </a:lnSpc>
              <a:buNone/>
            </a:pPr>
            <a:r>
              <a:rPr lang="en-US" sz="13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К4</a:t>
            </a:r>
            <a:endParaRPr lang="en-US" sz="1350" dirty="0"/>
          </a:p>
        </p:txBody>
      </p:sp>
      <p:sp>
        <p:nvSpPr>
          <p:cNvPr id="57" name="Text 28"/>
          <p:cNvSpPr/>
          <p:nvPr/>
        </p:nvSpPr>
        <p:spPr>
          <a:xfrm>
            <a:off x="8116045" y="5939889"/>
            <a:ext cx="2092952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АРГУМЕНТАЦИОННЫЙ</a:t>
            </a:r>
            <a:endParaRPr lang="en-US" sz="750" dirty="0"/>
          </a:p>
        </p:txBody>
      </p:sp>
      <p:sp>
        <p:nvSpPr>
          <p:cNvPr id="58" name="Text 29"/>
          <p:cNvSpPr/>
          <p:nvPr/>
        </p:nvSpPr>
        <p:spPr>
          <a:xfrm>
            <a:off x="10856072" y="5640268"/>
            <a:ext cx="627888" cy="2663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35"/>
              </a:lnSpc>
              <a:buNone/>
            </a:pPr>
            <a:r>
              <a:rPr lang="en-US" sz="135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К5</a:t>
            </a:r>
            <a:endParaRPr lang="en-US" sz="1350" dirty="0"/>
          </a:p>
        </p:txBody>
      </p:sp>
      <p:sp>
        <p:nvSpPr>
          <p:cNvPr id="59" name="Text 30"/>
          <p:cNvSpPr/>
          <p:nvPr/>
        </p:nvSpPr>
        <p:spPr>
          <a:xfrm>
            <a:off x="10552290" y="5939889"/>
            <a:ext cx="1569714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РЕФЛЕКСИВНЫЙ</a:t>
            </a:r>
            <a:endParaRPr lang="en-US" sz="750" dirty="0"/>
          </a:p>
        </p:txBody>
      </p:sp>
      <p:sp>
        <p:nvSpPr>
          <p:cNvPr id="60" name="Text 31"/>
          <p:cNvSpPr/>
          <p:nvPr/>
        </p:nvSpPr>
        <p:spPr>
          <a:xfrm>
            <a:off x="499369" y="6382299"/>
            <a:ext cx="6148046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ИНСТРУМЕНТАРИЙ АПРОБИРОВАН В ШКОЛЕ «КВАДРИВИУМ»</a:t>
            </a:r>
            <a:endParaRPr lang="en-US" sz="750" dirty="0"/>
          </a:p>
        </p:txBody>
      </p:sp>
      <p:sp>
        <p:nvSpPr>
          <p:cNvPr id="61" name="Text 32"/>
          <p:cNvSpPr/>
          <p:nvPr/>
        </p:nvSpPr>
        <p:spPr>
          <a:xfrm>
            <a:off x="10192848" y="6382299"/>
            <a:ext cx="1999152" cy="1427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/ ПСКОВГУ 2026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88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94" y="325796"/>
            <a:ext cx="65159" cy="3257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94" y="912228"/>
            <a:ext cx="2657017" cy="78191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171" y="1107705"/>
            <a:ext cx="390955" cy="39095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47" y="1204808"/>
            <a:ext cx="236202" cy="196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1188" y="912228"/>
            <a:ext cx="2657017" cy="78191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6665" y="1107705"/>
            <a:ext cx="390955" cy="39095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6259" y="1206971"/>
            <a:ext cx="211767" cy="19242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3682" y="912228"/>
            <a:ext cx="2657017" cy="78191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9159" y="1107705"/>
            <a:ext cx="390955" cy="39095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8753" y="1206971"/>
            <a:ext cx="211767" cy="19242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6176" y="912228"/>
            <a:ext cx="2657017" cy="78191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1654" y="1107705"/>
            <a:ext cx="390955" cy="39095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43465" y="1204553"/>
            <a:ext cx="187332" cy="19713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8694" y="1954774"/>
            <a:ext cx="6433193" cy="4186475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4171" y="5672664"/>
            <a:ext cx="6042238" cy="273108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82523" y="1954774"/>
            <a:ext cx="4520671" cy="2670507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749330" y="342086"/>
            <a:ext cx="11442670" cy="2932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09"/>
              </a:lnSpc>
              <a:buNone/>
            </a:pPr>
            <a:r>
              <a:rPr lang="en-US" sz="2250" b="1" kern="0" spc="-53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 АПРОБАЦИИ: КОЛИЧЕСТВЕННЫЕ ДАННЫЕ</a:t>
            </a:r>
            <a:endParaRPr lang="en-US" sz="2250" dirty="0"/>
          </a:p>
        </p:txBody>
      </p:sp>
      <p:sp>
        <p:nvSpPr>
          <p:cNvPr id="42" name="Text 1"/>
          <p:cNvSpPr/>
          <p:nvPr/>
        </p:nvSpPr>
        <p:spPr>
          <a:xfrm>
            <a:off x="9267870" y="325796"/>
            <a:ext cx="2435323" cy="162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283"/>
              </a:lnSpc>
              <a:buNone/>
            </a:pPr>
            <a:r>
              <a:rPr lang="en-US" sz="1050" b="1" kern="0" spc="98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СЕНТЯБРЬ 2025 – МАЙ 2026</a:t>
            </a:r>
            <a:endParaRPr lang="en-US" sz="1050" dirty="0"/>
          </a:p>
        </p:txBody>
      </p:sp>
      <p:sp>
        <p:nvSpPr>
          <p:cNvPr id="43" name="Text 2"/>
          <p:cNvSpPr/>
          <p:nvPr/>
        </p:nvSpPr>
        <p:spPr>
          <a:xfrm>
            <a:off x="9267870" y="556896"/>
            <a:ext cx="2435323" cy="162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283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Школа «</a:t>
            </a:r>
            <a:r>
              <a:rPr lang="en-US" sz="105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Квадривиум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»,</a:t>
            </a:r>
            <a:endParaRPr lang="ru-RU" sz="1050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r">
              <a:lnSpc>
                <a:spcPts val="1283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</a:t>
            </a:r>
            <a:r>
              <a:rPr lang="ru-RU" sz="105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анкт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r>
              <a:rPr lang="en-US" sz="1050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Петербург</a:t>
            </a:r>
            <a:endParaRPr lang="en-US" sz="1050" dirty="0"/>
          </a:p>
        </p:txBody>
      </p:sp>
      <p:sp>
        <p:nvSpPr>
          <p:cNvPr id="44" name="Text 3"/>
          <p:cNvSpPr/>
          <p:nvPr/>
        </p:nvSpPr>
        <p:spPr>
          <a:xfrm>
            <a:off x="1205444" y="1107705"/>
            <a:ext cx="1069341" cy="2606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1800" dirty="0"/>
          </a:p>
        </p:txBody>
      </p:sp>
      <p:sp>
        <p:nvSpPr>
          <p:cNvPr id="45" name="Text 4"/>
          <p:cNvSpPr/>
          <p:nvPr/>
        </p:nvSpPr>
        <p:spPr>
          <a:xfrm>
            <a:off x="1205444" y="1368342"/>
            <a:ext cx="1283205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УЧАЩИХСЯ</a:t>
            </a:r>
            <a:endParaRPr lang="en-US" sz="900" dirty="0"/>
          </a:p>
        </p:txBody>
      </p:sp>
      <p:sp>
        <p:nvSpPr>
          <p:cNvPr id="46" name="Text 5"/>
          <p:cNvSpPr/>
          <p:nvPr/>
        </p:nvSpPr>
        <p:spPr>
          <a:xfrm>
            <a:off x="4057938" y="1107705"/>
            <a:ext cx="1262458" cy="2606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6"/>
          <p:cNvSpPr/>
          <p:nvPr/>
        </p:nvSpPr>
        <p:spPr>
          <a:xfrm>
            <a:off x="4057938" y="1368342"/>
            <a:ext cx="3261479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ПАРАЛЛЕЛИ (1-4 КЛ.)</a:t>
            </a:r>
            <a:endParaRPr lang="en-US" sz="900" dirty="0"/>
          </a:p>
        </p:txBody>
      </p:sp>
      <p:sp>
        <p:nvSpPr>
          <p:cNvPr id="48" name="Text 7"/>
          <p:cNvSpPr/>
          <p:nvPr/>
        </p:nvSpPr>
        <p:spPr>
          <a:xfrm>
            <a:off x="6910433" y="1107705"/>
            <a:ext cx="1069341" cy="2606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800" dirty="0"/>
          </a:p>
        </p:txBody>
      </p:sp>
      <p:sp>
        <p:nvSpPr>
          <p:cNvPr id="49" name="Text 8"/>
          <p:cNvSpPr/>
          <p:nvPr/>
        </p:nvSpPr>
        <p:spPr>
          <a:xfrm>
            <a:off x="6910433" y="1368342"/>
            <a:ext cx="2085208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ЗАНЯТИЯ В ГОД</a:t>
            </a:r>
            <a:endParaRPr lang="en-US" sz="900" dirty="0"/>
          </a:p>
        </p:txBody>
      </p:sp>
      <p:sp>
        <p:nvSpPr>
          <p:cNvPr id="50" name="Text 9"/>
          <p:cNvSpPr/>
          <p:nvPr/>
        </p:nvSpPr>
        <p:spPr>
          <a:xfrm>
            <a:off x="9762927" y="1107705"/>
            <a:ext cx="2245617" cy="26063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2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Σ 136</a:t>
            </a:r>
            <a:endParaRPr lang="en-US" sz="1800" dirty="0"/>
          </a:p>
        </p:txBody>
      </p:sp>
      <p:sp>
        <p:nvSpPr>
          <p:cNvPr id="51" name="Text 10"/>
          <p:cNvSpPr/>
          <p:nvPr/>
        </p:nvSpPr>
        <p:spPr>
          <a:xfrm>
            <a:off x="9762927" y="1368342"/>
            <a:ext cx="2406009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ЧАСОВ АПРОБАЦИИ</a:t>
            </a:r>
            <a:endParaRPr lang="ru-RU" sz="900" b="1" dirty="0">
              <a:solidFill>
                <a:srgbClr val="64748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684171" y="2154451"/>
            <a:ext cx="6950713" cy="2280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6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Диагностика мышления (ДТМ)</a:t>
            </a:r>
            <a:endParaRPr lang="en-US" sz="1500" dirty="0"/>
          </a:p>
        </p:txBody>
      </p:sp>
      <p:sp>
        <p:nvSpPr>
          <p:cNvPr id="60" name="Text 19"/>
          <p:cNvSpPr/>
          <p:nvPr/>
        </p:nvSpPr>
        <p:spPr>
          <a:xfrm>
            <a:off x="7378001" y="2154451"/>
            <a:ext cx="4010027" cy="2280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96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Мотивация (ОПМ)</a:t>
            </a:r>
            <a:endParaRPr lang="en-US" sz="1500" dirty="0"/>
          </a:p>
        </p:txBody>
      </p:sp>
      <p:sp>
        <p:nvSpPr>
          <p:cNvPr id="68" name="Text 27"/>
          <p:cNvSpPr/>
          <p:nvPr/>
        </p:nvSpPr>
        <p:spPr>
          <a:xfrm>
            <a:off x="488694" y="6401886"/>
            <a:ext cx="8501233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диссертация: Кинтас А.А., Корешкова Л.С.</a:t>
            </a:r>
            <a:endParaRPr lang="en-US" sz="900" dirty="0"/>
          </a:p>
        </p:txBody>
      </p:sp>
      <p:sp>
        <p:nvSpPr>
          <p:cNvPr id="69" name="Text 28"/>
          <p:cNvSpPr/>
          <p:nvPr/>
        </p:nvSpPr>
        <p:spPr>
          <a:xfrm>
            <a:off x="10131229" y="6401886"/>
            <a:ext cx="1122804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</a:t>
            </a:r>
            <a:endParaRPr lang="en-US" sz="900" dirty="0"/>
          </a:p>
        </p:txBody>
      </p:sp>
      <p:sp>
        <p:nvSpPr>
          <p:cNvPr id="70" name="Text 29"/>
          <p:cNvSpPr/>
          <p:nvPr/>
        </p:nvSpPr>
        <p:spPr>
          <a:xfrm>
            <a:off x="10799111" y="6401886"/>
            <a:ext cx="1122804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ПсковГУ</a:t>
            </a:r>
            <a:endParaRPr lang="en-US" sz="900" dirty="0"/>
          </a:p>
        </p:txBody>
      </p:sp>
      <p:sp>
        <p:nvSpPr>
          <p:cNvPr id="71" name="Text 30"/>
          <p:cNvSpPr/>
          <p:nvPr/>
        </p:nvSpPr>
        <p:spPr>
          <a:xfrm>
            <a:off x="11409977" y="6401886"/>
            <a:ext cx="782023" cy="1303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26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76200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066800"/>
            <a:ext cx="3479750" cy="48101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6050" y="1066800"/>
            <a:ext cx="3479750" cy="48101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0601" y="1066800"/>
            <a:ext cx="3479899" cy="255508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0601" y="3850481"/>
            <a:ext cx="3479899" cy="202644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6181725"/>
            <a:ext cx="11049000" cy="295275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838200" y="400050"/>
            <a:ext cx="11353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kern="0" spc="-45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КАЧЕСТВЕННЫЕ РЕЗУЛЬТАТЫ И РЕФЛЕКСИЯ</a:t>
            </a:r>
            <a:endParaRPr lang="en-US" sz="2250" dirty="0"/>
          </a:p>
        </p:txBody>
      </p:sp>
      <p:sp>
        <p:nvSpPr>
          <p:cNvPr id="41" name="Text 19"/>
          <p:cNvSpPr/>
          <p:nvPr/>
        </p:nvSpPr>
        <p:spPr>
          <a:xfrm>
            <a:off x="571500" y="6334125"/>
            <a:ext cx="3771900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АПРОБАЦИЯ: ЧОУ «ШКОЛА КВАДРИВИУМ»</a:t>
            </a:r>
            <a:endParaRPr lang="en-US" sz="750" dirty="0"/>
          </a:p>
        </p:txBody>
      </p:sp>
      <p:sp>
        <p:nvSpPr>
          <p:cNvPr id="42" name="Text 20"/>
          <p:cNvSpPr/>
          <p:nvPr/>
        </p:nvSpPr>
        <p:spPr>
          <a:xfrm>
            <a:off x="9153525" y="6334125"/>
            <a:ext cx="3038475" cy="142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25"/>
              </a:lnSpc>
              <a:buNone/>
            </a:pPr>
            <a:r>
              <a:rPr lang="en-US" sz="75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ДИССЕРТАЦИОННОЕ ИССЛЕДОВАНИЕ 2026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76200" cy="45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43000"/>
            <a:ext cx="3530501" cy="381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43000"/>
            <a:ext cx="3530501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133600"/>
            <a:ext cx="133350" cy="133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628900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1242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6195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0601" y="1143000"/>
            <a:ext cx="3530650" cy="3810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601" y="1143000"/>
            <a:ext cx="353065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01" y="1866900"/>
            <a:ext cx="3149650" cy="647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1101" y="2667000"/>
            <a:ext cx="3149650" cy="647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0601" y="4495800"/>
            <a:ext cx="353065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850" y="1143000"/>
            <a:ext cx="3530501" cy="3810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850" y="1143000"/>
            <a:ext cx="3530501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350" y="213360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350" y="262890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350" y="31242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350" y="36195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181600"/>
            <a:ext cx="1104900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5562600"/>
            <a:ext cx="257175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5410200"/>
            <a:ext cx="5143500" cy="533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5562600"/>
            <a:ext cx="257175" cy="228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876300" y="419100"/>
            <a:ext cx="53492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kern="0" spc="-54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ВКЛАД АВТОРОВ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723900" y="1295400"/>
            <a:ext cx="3225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Кинтас А.А.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723900" y="1600200"/>
            <a:ext cx="32257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ПРОБЛЕМНОЕ ОБУЧЕНИЕ</a:t>
            </a:r>
            <a:endParaRPr lang="en-US" sz="900" dirty="0"/>
          </a:p>
        </p:txBody>
      </p:sp>
      <p:sp>
        <p:nvSpPr>
          <p:cNvPr id="28" name="Text 3"/>
          <p:cNvSpPr/>
          <p:nvPr/>
        </p:nvSpPr>
        <p:spPr>
          <a:xfrm>
            <a:off x="971550" y="20955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Методология мат. мышления (К1–К5) и барьеры обучения.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971550" y="25908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олимпиад: логика, комбинаторика, стратегия.</a:t>
            </a:r>
            <a:endParaRPr lang="en-US" sz="1050" dirty="0"/>
          </a:p>
        </p:txBody>
      </p:sp>
      <p:sp>
        <p:nvSpPr>
          <p:cNvPr id="30" name="Text 5"/>
          <p:cNvSpPr/>
          <p:nvPr/>
        </p:nvSpPr>
        <p:spPr>
          <a:xfrm>
            <a:off x="971550" y="30861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модель ADDIE, занятия 3–4 классов.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971550" y="3581400"/>
            <a:ext cx="5600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Диагностика: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тесты ДТМ и карта КПН.</a:t>
            </a:r>
            <a:endParaRPr lang="en-US" sz="1050" dirty="0"/>
          </a:p>
        </p:txBody>
      </p:sp>
      <p:sp>
        <p:nvSpPr>
          <p:cNvPr id="32" name="Text 7"/>
          <p:cNvSpPr/>
          <p:nvPr/>
        </p:nvSpPr>
        <p:spPr>
          <a:xfrm>
            <a:off x="5195739" y="1333500"/>
            <a:ext cx="1647825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369A1"/>
                </a:solidFill>
                <a:highlight>
                  <a:srgbClr val="E0F2F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СОВМЕСТНАЯ РАЗРАБОТКА</a:t>
            </a:r>
            <a:endParaRPr lang="en-US" sz="900" dirty="0"/>
          </a:p>
        </p:txBody>
      </p:sp>
      <p:sp>
        <p:nvSpPr>
          <p:cNvPr id="33" name="Text 8"/>
          <p:cNvSpPr/>
          <p:nvPr/>
        </p:nvSpPr>
        <p:spPr>
          <a:xfrm>
            <a:off x="4521101" y="1866900"/>
            <a:ext cx="31496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Интеграция: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4521101" y="2057400"/>
            <a:ext cx="3149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Синтез методик, нарративно-проблемный континуум.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4521101" y="2667000"/>
            <a:ext cx="31496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Банк задач: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4521101" y="2857500"/>
            <a:ext cx="3149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Геометрические задачи, итоговые критерии отбора.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4521101" y="3467100"/>
            <a:ext cx="3520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Методические элементы: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4521101" y="3657600"/>
            <a:ext cx="3149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Карточки-маяки, сигналы, сквозные элементы курса.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4330601" y="4495800"/>
            <a:ext cx="3225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Итоговые выводы и заключение</a:t>
            </a:r>
            <a:endParaRPr lang="en-US" sz="900" dirty="0"/>
          </a:p>
        </p:txBody>
      </p:sp>
      <p:sp>
        <p:nvSpPr>
          <p:cNvPr id="40" name="Text 15"/>
          <p:cNvSpPr/>
          <p:nvPr/>
        </p:nvSpPr>
        <p:spPr>
          <a:xfrm>
            <a:off x="8242250" y="1295400"/>
            <a:ext cx="32257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4A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Корешкова Л.С.</a:t>
            </a:r>
            <a:endParaRPr lang="en-US" sz="1500" dirty="0"/>
          </a:p>
        </p:txBody>
      </p:sp>
      <p:sp>
        <p:nvSpPr>
          <p:cNvPr id="41" name="Text 16"/>
          <p:cNvSpPr/>
          <p:nvPr/>
        </p:nvSpPr>
        <p:spPr>
          <a:xfrm>
            <a:off x="8242250" y="1600200"/>
            <a:ext cx="3225701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НАРРАТИВНЫЕ ТЕХНОЛОГИИ</a:t>
            </a:r>
            <a:endParaRPr lang="en-US" sz="900" dirty="0"/>
          </a:p>
        </p:txBody>
      </p:sp>
      <p:sp>
        <p:nvSpPr>
          <p:cNvPr id="42" name="Text 17"/>
          <p:cNvSpPr/>
          <p:nvPr/>
        </p:nvSpPr>
        <p:spPr>
          <a:xfrm>
            <a:off x="8489900" y="20955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Обзор отечественных и зарубежных развивающих методик.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8489900" y="25908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Анализ олимпиад: нарративные и сюжетные задачи.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8489900" y="30861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технология сюжета, занятия 1–2 классов.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8489900" y="3581400"/>
            <a:ext cx="293995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Инструментарий:</a:t>
            </a:r>
            <a:r>
              <a:rPr lang="en-US" sz="10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ОПМ, портфолио, рефлексивные эссе.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1209675" y="5410200"/>
            <a:ext cx="47339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КИНТАС А.А.</a:t>
            </a:r>
            <a:endParaRPr lang="en-US" sz="900" dirty="0"/>
          </a:p>
        </p:txBody>
      </p:sp>
      <p:sp>
        <p:nvSpPr>
          <p:cNvPr id="47" name="Text 22"/>
          <p:cNvSpPr/>
          <p:nvPr/>
        </p:nvSpPr>
        <p:spPr>
          <a:xfrm>
            <a:off x="1209675" y="5562600"/>
            <a:ext cx="47339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Проблемное обучение и логика дидактического проектирования</a:t>
            </a:r>
            <a:endParaRPr lang="en-US" sz="1200" dirty="0"/>
          </a:p>
        </p:txBody>
      </p:sp>
      <p:sp>
        <p:nvSpPr>
          <p:cNvPr id="48" name="Text 23"/>
          <p:cNvSpPr/>
          <p:nvPr/>
        </p:nvSpPr>
        <p:spPr>
          <a:xfrm>
            <a:off x="6962775" y="5505450"/>
            <a:ext cx="38671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КОРЕШКОВА Л.С.</a:t>
            </a:r>
            <a:endParaRPr lang="en-US" sz="900" dirty="0"/>
          </a:p>
        </p:txBody>
      </p:sp>
      <p:sp>
        <p:nvSpPr>
          <p:cNvPr id="49" name="Text 24"/>
          <p:cNvSpPr/>
          <p:nvPr/>
        </p:nvSpPr>
        <p:spPr>
          <a:xfrm>
            <a:off x="6962775" y="5657850"/>
            <a:ext cx="52292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Нарративные технологии и сюжетная подача задач</a:t>
            </a:r>
            <a:endParaRPr lang="en-US" sz="1200" dirty="0"/>
          </a:p>
        </p:txBody>
      </p:sp>
      <p:sp>
        <p:nvSpPr>
          <p:cNvPr id="50" name="Text 25"/>
          <p:cNvSpPr/>
          <p:nvPr/>
        </p:nvSpPr>
        <p:spPr>
          <a:xfrm>
            <a:off x="571500" y="6324600"/>
            <a:ext cx="58978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Магистерская диссертация: НИУ ВШЭ / ПсковГУ</a:t>
            </a:r>
            <a:endParaRPr lang="en-US" sz="900" dirty="0"/>
          </a:p>
        </p:txBody>
      </p:sp>
      <p:sp>
        <p:nvSpPr>
          <p:cNvPr id="51" name="Text 26"/>
          <p:cNvSpPr/>
          <p:nvPr/>
        </p:nvSpPr>
        <p:spPr>
          <a:xfrm>
            <a:off x="11344275" y="6324600"/>
            <a:ext cx="8477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5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5" y="337417"/>
            <a:ext cx="67483" cy="4049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25" y="1012251"/>
            <a:ext cx="5421078" cy="110820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76" y="1214701"/>
            <a:ext cx="337417" cy="33741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01" y="1311049"/>
            <a:ext cx="134967" cy="1445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125" y="2322905"/>
            <a:ext cx="5421078" cy="11082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576" y="2525355"/>
            <a:ext cx="337417" cy="33741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365" y="2618145"/>
            <a:ext cx="151838" cy="15183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125" y="3633559"/>
            <a:ext cx="5421078" cy="110820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576" y="3836009"/>
            <a:ext cx="337417" cy="33741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930" y="3930249"/>
            <a:ext cx="168709" cy="148806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4621" y="1012251"/>
            <a:ext cx="5421210" cy="436111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4554" y="1303273"/>
            <a:ext cx="227756" cy="22775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554" y="1788310"/>
            <a:ext cx="134967" cy="14458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4554" y="2447855"/>
            <a:ext cx="151838" cy="15183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34554" y="3107400"/>
            <a:ext cx="151838" cy="15183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4554" y="3868169"/>
            <a:ext cx="4881343" cy="53986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6125" y="5710782"/>
            <a:ext cx="11179706" cy="80980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72215" y="5980716"/>
            <a:ext cx="1611166" cy="269934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76059" y="371159"/>
            <a:ext cx="4646295" cy="3374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57"/>
              </a:lnSpc>
              <a:buNone/>
            </a:pPr>
            <a:r>
              <a:rPr lang="en-US" sz="2700" b="1" kern="0" spc="-6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ЗАКЛЮЧЕНИЕ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9767035" y="467771"/>
            <a:ext cx="1918796" cy="16027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328"/>
              </a:lnSpc>
              <a:buNone/>
            </a:pPr>
            <a:r>
              <a:rPr lang="en-US" sz="1050" b="1" kern="0" spc="9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 ИССЛЕДОВАНИЯ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1180959" y="1214701"/>
            <a:ext cx="4543794" cy="2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Реализация задач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1180959" y="1484635"/>
            <a:ext cx="4543794" cy="4333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6 задач исследования выполнены в полном объёме: от теоретического анализа до апробации.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1180959" y="2525355"/>
            <a:ext cx="5110924" cy="2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Подтверждение гипотезы</a:t>
            </a:r>
            <a:endParaRPr lang="en-US" sz="1350" dirty="0"/>
          </a:p>
        </p:txBody>
      </p:sp>
      <p:sp>
        <p:nvSpPr>
          <p:cNvPr id="26" name="Text 5"/>
          <p:cNvSpPr/>
          <p:nvPr/>
        </p:nvSpPr>
        <p:spPr>
          <a:xfrm>
            <a:off x="1180959" y="2795289"/>
            <a:ext cx="4543794" cy="4333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</a:rPr>
              <a:t>?!!!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1180959" y="3836009"/>
            <a:ext cx="5110924" cy="2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Эффективность методики</a:t>
            </a:r>
            <a:endParaRPr lang="en-US" sz="1350" dirty="0"/>
          </a:p>
        </p:txBody>
      </p:sp>
      <p:sp>
        <p:nvSpPr>
          <p:cNvPr id="28" name="Text 7"/>
          <p:cNvSpPr/>
          <p:nvPr/>
        </p:nvSpPr>
        <p:spPr>
          <a:xfrm>
            <a:off x="1180959" y="4105943"/>
            <a:ext cx="4543794" cy="4333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Континуум «нарратив → проблема» доказал свою состоятельность как инструмент развития мышления.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6897277" y="1282185"/>
            <a:ext cx="5294723" cy="2699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2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Готовность к внедрению</a:t>
            </a:r>
            <a:endParaRPr lang="en-US" sz="1800" dirty="0"/>
          </a:p>
        </p:txBody>
      </p:sp>
      <p:sp>
        <p:nvSpPr>
          <p:cNvPr id="30" name="Text 9"/>
          <p:cNvSpPr/>
          <p:nvPr/>
        </p:nvSpPr>
        <p:spPr>
          <a:xfrm>
            <a:off x="6804488" y="1754568"/>
            <a:ext cx="4611410" cy="457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Банк из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 задач</a:t>
            </a: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полностью сформирован и структурирован.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6821359" y="2414113"/>
            <a:ext cx="4594539" cy="457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Диагностический инструментарий (ДТМ, КПН) готов к использованию педагогами.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821359" y="3073658"/>
            <a:ext cx="4594539" cy="4570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легко масштабируется для внеурочной деятельности в начальной школе.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534554" y="3868169"/>
            <a:ext cx="4881343" cy="5398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328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«Разработанный курс является завершенным методическим продуктом, готовым к тиражированию в системе образования».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708576" y="5913233"/>
            <a:ext cx="5936924" cy="2361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Благодарим за внимание!</a:t>
            </a:r>
            <a:endParaRPr lang="en-US" sz="1500" dirty="0"/>
          </a:p>
        </p:txBody>
      </p:sp>
      <p:sp>
        <p:nvSpPr>
          <p:cNvPr id="35" name="Text 14"/>
          <p:cNvSpPr/>
          <p:nvPr/>
        </p:nvSpPr>
        <p:spPr>
          <a:xfrm>
            <a:off x="708576" y="6183166"/>
            <a:ext cx="4801171" cy="1349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63"/>
              </a:lnSpc>
              <a:buNone/>
            </a:pPr>
            <a:r>
              <a:rPr lang="en-US" sz="900" kern="0" spc="8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 ОТВЕТИТЬ НА ВАШИ ВОПРОСЫ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9653954" y="5980716"/>
            <a:ext cx="1829427" cy="1349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063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Кинтас А.А., Корешкова Л.С.</a:t>
            </a:r>
            <a:endParaRPr lang="en-US" sz="900" dirty="0"/>
          </a:p>
        </p:txBody>
      </p:sp>
      <p:sp>
        <p:nvSpPr>
          <p:cNvPr id="37" name="Text 16"/>
          <p:cNvSpPr/>
          <p:nvPr/>
        </p:nvSpPr>
        <p:spPr>
          <a:xfrm>
            <a:off x="9872215" y="6115683"/>
            <a:ext cx="1611166" cy="1349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063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НИУ ВШЭ | ПсковГУ,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2088</Words>
  <Application>Microsoft Office PowerPoint</Application>
  <PresentationFormat>Широкоэкранный</PresentationFormat>
  <Paragraphs>424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9</cp:revision>
  <dcterms:created xsi:type="dcterms:W3CDTF">2026-04-20T18:55:17Z</dcterms:created>
  <dcterms:modified xsi:type="dcterms:W3CDTF">2026-04-21T12:08:18Z</dcterms:modified>
</cp:coreProperties>
</file>